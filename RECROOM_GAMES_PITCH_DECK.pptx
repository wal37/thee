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1.png"/>
  <Relationship Id="rId3" Type="http://schemas.openxmlformats.org/officeDocument/2006/relationships/image" Target="../media/image2.jpeg"/>
  <Relationship Id="rId4" Type="http://schemas.openxmlformats.org/officeDocument/2006/relationships/image" Target="../media/image3.jpe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2.jpeg"/>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3.jpeg"/>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2.jpeg"/>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1.png"/>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3.jpeg"/>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1.png"/>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1.png"/>
  <Relationship Id="rId3" Type="http://schemas.openxmlformats.org/officeDocument/2006/relationships/image" Target="../media/image2.jpeg"/>
  <Relationship Id="rId4" Type="http://schemas.openxmlformats.org/officeDocument/2006/relationships/image" Target="../media/image3.jpeg"/>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0B0D10"/>
          </a:solidFill>
          <a:ln>
            <a:noFill/>
          </a:ln>
        </p:spPr>
        <p:txBody>
          <a:bodyPr/>
          <a:lstStyle/>
          <a:p/>
        </p:txBody>
      </p:sp>
      <p:sp>
        <p:nvSpPr>
          <p:cNvPr id="3" name="Shape 3"/>
          <p:cNvSpPr/>
          <p:nvPr/>
        </p:nvSpPr>
        <p:spPr>
          <a:xfrm>
            <a:off x="502920" y="502920"/>
            <a:ext cx="5486400" cy="5852160"/>
          </a:xfrm>
          <a:prstGeom prst="roundRect">
            <a:avLst/>
          </a:prstGeom>
          <a:solidFill>
            <a:srgbClr val="F6F0E5"/>
          </a:solidFill>
          <a:ln>
            <a:noFill/>
          </a:ln>
        </p:spPr>
        <p:txBody>
          <a:bodyPr/>
          <a:lstStyle/>
          <a:p/>
        </p:txBody>
      </p:sp>
      <p:sp>
        <p:nvSpPr>
          <p:cNvPr id="4" name="Shape 4"/>
          <p:cNvSpPr/>
          <p:nvPr/>
        </p:nvSpPr>
        <p:spPr>
          <a:xfrm>
            <a:off x="6172200" y="502920"/>
            <a:ext cx="5532120" cy="1828800"/>
          </a:xfrm>
          <a:prstGeom prst="roundRect">
            <a:avLst/>
          </a:prstGeom>
          <a:solidFill>
            <a:srgbClr val="F5C242"/>
          </a:solidFill>
          <a:ln>
            <a:noFill/>
          </a:ln>
        </p:spPr>
        <p:txBody>
          <a:bodyPr/>
          <a:lstStyle/>
          <a:p/>
        </p:txBody>
      </p:sp>
      <p:sp>
        <p:nvSpPr>
          <p:cNvPr id="5" name="Shape 5"/>
          <p:cNvSpPr/>
          <p:nvPr/>
        </p:nvSpPr>
        <p:spPr>
          <a:xfrm>
            <a:off x="6172200" y="2542032"/>
            <a:ext cx="2651760" cy="3813048"/>
          </a:xfrm>
          <a:prstGeom prst="roundRect">
            <a:avLst/>
          </a:prstGeom>
          <a:solidFill>
            <a:srgbClr val="16181D"/>
          </a:solidFill>
          <a:ln>
            <a:noFill/>
          </a:ln>
        </p:spPr>
        <p:txBody>
          <a:bodyPr/>
          <a:lstStyle/>
          <a:p/>
        </p:txBody>
      </p:sp>
      <p:sp>
        <p:nvSpPr>
          <p:cNvPr id="6" name="Shape 6"/>
          <p:cNvSpPr/>
          <p:nvPr/>
        </p:nvSpPr>
        <p:spPr>
          <a:xfrm>
            <a:off x="9052560" y="2542032"/>
            <a:ext cx="2651760" cy="3813048"/>
          </a:xfrm>
          <a:prstGeom prst="roundRect">
            <a:avLst/>
          </a:prstGeom>
          <a:solidFill>
            <a:srgbClr val="C94B38"/>
          </a:solidFill>
          <a:ln>
            <a:noFill/>
          </a:ln>
        </p:spPr>
        <p:txBody>
          <a:bodyPr/>
          <a:lstStyle/>
          <a:p/>
        </p:txBody>
      </p:sp>
      <p:pic>
        <p:nvPicPr>
          <p:cNvPr id="7" name="Picture 7" descr="cineplex.png"/>
          <p:cNvPicPr>
            <a:picLocks noChangeAspect="1"/>
          </p:cNvPicPr>
          <p:nvPr/>
        </p:nvPicPr>
        <p:blipFill>
          <a:blip r:embed="rId2"/>
          <a:stretch>
            <a:fillRect/>
          </a:stretch>
        </p:blipFill>
        <p:spPr>
          <a:xfrm>
            <a:off x="6355080" y="704088"/>
            <a:ext cx="5166360" cy="1426464"/>
          </a:xfrm>
          <a:prstGeom prst="roundRect">
            <a:avLst/>
          </a:prstGeom>
        </p:spPr>
      </p:pic>
      <p:pic>
        <p:nvPicPr>
          <p:cNvPr id="8" name="Picture 8" descr="cntower.jpeg"/>
          <p:cNvPicPr>
            <a:picLocks noChangeAspect="1"/>
          </p:cNvPicPr>
          <p:nvPr/>
        </p:nvPicPr>
        <p:blipFill>
          <a:blip r:embed="rId3"/>
          <a:stretch>
            <a:fillRect/>
          </a:stretch>
        </p:blipFill>
        <p:spPr>
          <a:xfrm>
            <a:off x="6382512" y="2743200"/>
            <a:ext cx="2286000" cy="3410712"/>
          </a:xfrm>
          <a:prstGeom prst="roundRect">
            <a:avLst/>
          </a:prstGeom>
        </p:spPr>
      </p:pic>
      <p:pic>
        <p:nvPicPr>
          <p:cNvPr id="9" name="Picture 9" descr="ubisoft.jpeg"/>
          <p:cNvPicPr>
            <a:picLocks noChangeAspect="1"/>
          </p:cNvPicPr>
          <p:nvPr/>
        </p:nvPicPr>
        <p:blipFill>
          <a:blip r:embed="rId4"/>
          <a:stretch>
            <a:fillRect/>
          </a:stretch>
        </p:blipFill>
        <p:spPr>
          <a:xfrm>
            <a:off x="9253728" y="2743200"/>
            <a:ext cx="2249424" cy="3410712"/>
          </a:xfrm>
          <a:prstGeom prst="roundRect">
            <a:avLst/>
          </a:prstGeom>
        </p:spPr>
      </p:pic>
      <p:sp>
        <p:nvSpPr>
          <p:cNvPr id="10" name="Shape 10"/>
          <p:cNvSpPr/>
          <p:nvPr/>
        </p:nvSpPr>
        <p:spPr>
          <a:xfrm>
            <a:off x="914400" y="914400"/>
            <a:ext cx="1005840" cy="310896"/>
          </a:xfrm>
          <a:prstGeom prst="roundRect">
            <a:avLst/>
          </a:prstGeom>
          <a:solidFill>
            <a:srgbClr val="F5C242"/>
          </a:solidFill>
          <a:ln>
            <a:noFill/>
          </a:ln>
        </p:spPr>
        <p:txBody>
          <a:bodyPr/>
          <a:lstStyle/>
          <a:p/>
        </p:txBody>
      </p:sp>
      <p:sp>
        <p:nvSpPr>
          <p:cNvPr id="11" name="Text 11"/>
          <p:cNvSpPr txBox="1"/>
          <p:nvPr/>
        </p:nvSpPr>
        <p:spPr>
          <a:xfrm>
            <a:off x="914400" y="932688"/>
            <a:ext cx="1005840" cy="182880"/>
          </a:xfrm>
          <a:prstGeom prst="rect">
            <a:avLst/>
          </a:prstGeom>
          <a:noFill/>
          <a:ln>
            <a:noFill/>
          </a:ln>
        </p:spPr>
        <p:txBody>
          <a:bodyPr anchor="t" wrap="square"/>
          <a:lstStyle/>
          <a:p>
            <a:pPr algn="c"/>
            <a:r>
              <a:rPr lang="en-US" sz="1000" b="1" cap="all">
                <a:solidFill>
                  <a:srgbClr val="0B0D10"/>
                </a:solidFill>
                <a:latin typeface="Aptos"/>
              </a:rPr>
              <a:t>Deck</a:t>
            </a:r>
            <a:endParaRPr lang="en-US" sz="1000">
              <a:solidFill>
                <a:srgbClr val="0B0D10"/>
              </a:solidFill>
              <a:latin typeface="Aptos"/>
            </a:endParaRPr>
          </a:p>
        </p:txBody>
      </p:sp>
      <p:sp>
        <p:nvSpPr>
          <p:cNvPr id="12" name="Text 12"/>
          <p:cNvSpPr txBox="1"/>
          <p:nvPr/>
        </p:nvSpPr>
        <p:spPr>
          <a:xfrm>
            <a:off x="914400" y="1417320"/>
            <a:ext cx="4389120" cy="1645920"/>
          </a:xfrm>
          <a:prstGeom prst="rect">
            <a:avLst/>
          </a:prstGeom>
          <a:noFill/>
          <a:ln>
            <a:noFill/>
          </a:ln>
        </p:spPr>
        <p:txBody>
          <a:bodyPr anchor="t" wrap="square"/>
          <a:lstStyle/>
          <a:p>
            <a:pPr algn="l"/>
            <a:r>
              <a:rPr lang="en-US" sz="2800" b="1">
                <a:solidFill>
                  <a:srgbClr val="111111"/>
                </a:solidFill>
                <a:latin typeface="Georgia"/>
              </a:rPr>
              <a:t>Recroom</a:t>
            </a:r>
            <a:endParaRPr lang="en-US" sz="2800">
              <a:solidFill>
                <a:srgbClr val="111111"/>
              </a:solidFill>
              <a:latin typeface="Georgia"/>
            </a:endParaRPr>
          </a:p>
          <a:p>
            <a:pPr algn="l"/>
            <a:r>
              <a:rPr lang="en-US" sz="2800" b="1">
                <a:solidFill>
                  <a:srgbClr val="111111"/>
                </a:solidFill>
                <a:latin typeface="Georgia"/>
              </a:rPr>
              <a:t>Games</a:t>
            </a:r>
            <a:endParaRPr lang="en-US" sz="2800">
              <a:solidFill>
                <a:srgbClr val="111111"/>
              </a:solidFill>
              <a:latin typeface="Georgia"/>
            </a:endParaRPr>
          </a:p>
        </p:txBody>
      </p:sp>
      <p:sp>
        <p:nvSpPr>
          <p:cNvPr id="13" name="Text 13"/>
          <p:cNvSpPr txBox="1"/>
          <p:nvPr/>
        </p:nvSpPr>
        <p:spPr>
          <a:xfrm>
            <a:off x="914400" y="3337560"/>
            <a:ext cx="4480560" cy="1143000"/>
          </a:xfrm>
          <a:prstGeom prst="rect">
            <a:avLst/>
          </a:prstGeom>
          <a:noFill/>
          <a:ln>
            <a:noFill/>
          </a:ln>
        </p:spPr>
        <p:txBody>
          <a:bodyPr anchor="t" wrap="square"/>
          <a:lstStyle/>
          <a:p>
            <a:pPr algn="l"/>
            <a:r>
              <a:rPr lang="en-US" sz="1300" b="0">
                <a:solidFill>
                  <a:srgbClr val="5A616C"/>
                </a:solidFill>
                <a:latin typeface="Aptos"/>
              </a:rPr>
              <a:t>Digital infrastructure for online games, in-house development, sports programming, recreation venues, and immersive entertainment.</a:t>
            </a:r>
            <a:endParaRPr lang="en-US" sz="1300">
              <a:solidFill>
                <a:srgbClr val="5A616C"/>
              </a:solidFill>
              <a:latin typeface="Aptos"/>
            </a:endParaRPr>
          </a:p>
        </p:txBody>
      </p:sp>
      <p:sp>
        <p:nvSpPr>
          <p:cNvPr id="14" name="Text 14"/>
          <p:cNvSpPr txBox="1"/>
          <p:nvPr/>
        </p:nvSpPr>
        <p:spPr>
          <a:xfrm>
            <a:off x="914400" y="5166360"/>
            <a:ext cx="4480560" cy="411480"/>
          </a:xfrm>
          <a:prstGeom prst="rect">
            <a:avLst/>
          </a:prstGeom>
          <a:noFill/>
          <a:ln>
            <a:noFill/>
          </a:ln>
        </p:spPr>
        <p:txBody>
          <a:bodyPr anchor="t" wrap="square"/>
          <a:lstStyle/>
          <a:p>
            <a:pPr algn="l"/>
            <a:r>
              <a:rPr lang="en-US" sz="1150" b="1">
                <a:solidFill>
                  <a:srgbClr val="6B5940"/>
                </a:solidFill>
                <a:latin typeface="Aptos"/>
              </a:rPr>
              <a:t>13-slide company deck | May 2026</a:t>
            </a:r>
            <a:endParaRPr lang="en-US" sz="1150">
              <a:solidFill>
                <a:srgbClr val="6B5940"/>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6F0E5"/>
          </a:solidFill>
          <a:ln>
            <a:noFill/>
          </a:ln>
        </p:spPr>
        <p:txBody>
          <a:bodyPr/>
          <a:lstStyle/>
          <a:p/>
        </p:txBody>
      </p:sp>
      <p:sp>
        <p:nvSpPr>
          <p:cNvPr id="3" name="Shape 3"/>
          <p:cNvSpPr/>
          <p:nvPr/>
        </p:nvSpPr>
        <p:spPr>
          <a:xfrm>
            <a:off x="594360" y="640080"/>
            <a:ext cx="10972800" cy="5577840"/>
          </a:xfrm>
          <a:prstGeom prst="roundRect">
            <a:avLst/>
          </a:prstGeom>
          <a:solidFill>
            <a:srgbClr val="FFF9F0"/>
          </a:solidFill>
          <a:ln>
            <a:noFill/>
          </a:ln>
        </p:spPr>
        <p:txBody>
          <a:bodyPr/>
          <a:lstStyle/>
          <a:p/>
        </p:txBody>
      </p:sp>
      <p:sp>
        <p:nvSpPr>
          <p:cNvPr id="4" name="Shape 4"/>
          <p:cNvSpPr/>
          <p:nvPr/>
        </p:nvSpPr>
        <p:spPr>
          <a:xfrm>
            <a:off x="868680" y="960120"/>
            <a:ext cx="10424160" cy="128016"/>
          </a:xfrm>
          <a:prstGeom prst="rect">
            <a:avLst/>
          </a:prstGeom>
          <a:solidFill>
            <a:srgbClr val="F5C242"/>
          </a:solidFill>
          <a:ln>
            <a:noFill/>
          </a:ln>
        </p:spPr>
        <p:txBody>
          <a:bodyPr/>
          <a:lstStyle/>
          <a:p/>
        </p:txBody>
      </p:sp>
      <p:sp>
        <p:nvSpPr>
          <p:cNvPr id="5" name="Text 5"/>
          <p:cNvSpPr txBox="1"/>
          <p:nvPr/>
        </p:nvSpPr>
        <p:spPr>
          <a:xfrm>
            <a:off x="914400" y="1325880"/>
            <a:ext cx="5303520" cy="548640"/>
          </a:xfrm>
          <a:prstGeom prst="rect">
            <a:avLst/>
          </a:prstGeom>
          <a:noFill/>
          <a:ln>
            <a:noFill/>
          </a:ln>
        </p:spPr>
        <p:txBody>
          <a:bodyPr anchor="t" wrap="square"/>
          <a:lstStyle/>
          <a:p>
            <a:pPr algn="l"/>
            <a:r>
              <a:rPr lang="en-US" sz="2700" b="1">
                <a:solidFill>
                  <a:srgbClr val="111111"/>
                </a:solidFill>
                <a:latin typeface="Georgia"/>
              </a:rPr>
              <a:t>The rec room is no longer only a venue.</a:t>
            </a:r>
            <a:endParaRPr lang="en-US" sz="2700">
              <a:solidFill>
                <a:srgbClr val="111111"/>
              </a:solidFill>
              <a:latin typeface="Georgia"/>
            </a:endParaRPr>
          </a:p>
        </p:txBody>
      </p:sp>
      <p:sp>
        <p:nvSpPr>
          <p:cNvPr id="6" name="Text 6"/>
          <p:cNvSpPr txBox="1"/>
          <p:nvPr/>
        </p:nvSpPr>
        <p:spPr>
          <a:xfrm>
            <a:off x="914400" y="2057400"/>
            <a:ext cx="5303520" cy="868680"/>
          </a:xfrm>
          <a:prstGeom prst="rect">
            <a:avLst/>
          </a:prstGeom>
          <a:noFill/>
          <a:ln>
            <a:noFill/>
          </a:ln>
        </p:spPr>
        <p:txBody>
          <a:bodyPr anchor="t" wrap="square"/>
          <a:lstStyle/>
          <a:p>
            <a:pPr algn="l"/>
            <a:r>
              <a:rPr lang="en-US" sz="1300" b="0">
                <a:solidFill>
                  <a:srgbClr val="5A616C"/>
                </a:solidFill>
                <a:latin typeface="Aptos"/>
              </a:rPr>
              <a:t>The customer journey now begins online, continues through identity, content, and booking, and loops back through loyalty, live events, and digital play.</a:t>
            </a:r>
            <a:endParaRPr lang="en-US" sz="1300">
              <a:solidFill>
                <a:srgbClr val="5A616C"/>
              </a:solidFill>
              <a:latin typeface="Aptos"/>
            </a:endParaRPr>
          </a:p>
        </p:txBody>
      </p:sp>
      <p:sp>
        <p:nvSpPr>
          <p:cNvPr id="7" name="Shape 7"/>
          <p:cNvSpPr/>
          <p:nvPr/>
        </p:nvSpPr>
        <p:spPr>
          <a:xfrm>
            <a:off x="914400" y="3657600"/>
            <a:ext cx="2468880" cy="1828800"/>
          </a:xfrm>
          <a:prstGeom prst="roundRect">
            <a:avLst/>
          </a:prstGeom>
          <a:solidFill>
            <a:srgbClr val="EFE5D0"/>
          </a:solidFill>
          <a:ln>
            <a:noFill/>
          </a:ln>
        </p:spPr>
        <p:txBody>
          <a:bodyPr/>
          <a:lstStyle/>
          <a:p/>
        </p:txBody>
      </p:sp>
      <p:sp>
        <p:nvSpPr>
          <p:cNvPr id="8" name="Text 8"/>
          <p:cNvSpPr txBox="1"/>
          <p:nvPr/>
        </p:nvSpPr>
        <p:spPr>
          <a:xfrm>
            <a:off x="1097280" y="3840480"/>
            <a:ext cx="2011680" cy="320040"/>
          </a:xfrm>
          <a:prstGeom prst="rect">
            <a:avLst/>
          </a:prstGeom>
          <a:noFill/>
          <a:ln>
            <a:noFill/>
          </a:ln>
        </p:spPr>
        <p:txBody>
          <a:bodyPr anchor="t" wrap="square"/>
          <a:lstStyle/>
          <a:p>
            <a:pPr algn="l"/>
            <a:r>
              <a:rPr lang="en-US" sz="1600" b="1">
                <a:solidFill>
                  <a:srgbClr val="111111"/>
                </a:solidFill>
                <a:latin typeface="Aptos"/>
              </a:rPr>
              <a:t>Discover</a:t>
            </a:r>
            <a:endParaRPr lang="en-US" sz="1600">
              <a:solidFill>
                <a:srgbClr val="111111"/>
              </a:solidFill>
              <a:latin typeface="Aptos"/>
            </a:endParaRPr>
          </a:p>
        </p:txBody>
      </p:sp>
      <p:sp>
        <p:nvSpPr>
          <p:cNvPr id="9" name="Text 9"/>
          <p:cNvSpPr txBox="1"/>
          <p:nvPr/>
        </p:nvSpPr>
        <p:spPr>
          <a:xfrm>
            <a:off x="1097280" y="4297680"/>
            <a:ext cx="2057400" cy="822960"/>
          </a:xfrm>
          <a:prstGeom prst="rect">
            <a:avLst/>
          </a:prstGeom>
          <a:noFill/>
          <a:ln>
            <a:noFill/>
          </a:ln>
        </p:spPr>
        <p:txBody>
          <a:bodyPr anchor="t" wrap="square"/>
          <a:lstStyle/>
          <a:p>
            <a:pPr algn="l"/>
            <a:r>
              <a:rPr lang="en-US" sz="1130" b="0">
                <a:solidFill>
                  <a:srgbClr val="111111"/>
                </a:solidFill>
                <a:latin typeface="Aptos"/>
              </a:rPr>
              <a:t>Games, events, leagues, and experiences need to feel alive before arrival.</a:t>
            </a:r>
            <a:endParaRPr lang="en-US" sz="1130">
              <a:solidFill>
                <a:srgbClr val="111111"/>
              </a:solidFill>
              <a:latin typeface="Aptos"/>
            </a:endParaRPr>
          </a:p>
        </p:txBody>
      </p:sp>
      <p:sp>
        <p:nvSpPr>
          <p:cNvPr id="10" name="Text 10"/>
          <p:cNvSpPr txBox="1"/>
          <p:nvPr/>
        </p:nvSpPr>
        <p:spPr>
          <a:xfrm>
            <a:off x="2880360" y="5120640"/>
            <a:ext cx="274320" cy="274320"/>
          </a:xfrm>
          <a:prstGeom prst="rect">
            <a:avLst/>
          </a:prstGeom>
          <a:noFill/>
          <a:ln>
            <a:noFill/>
          </a:ln>
        </p:spPr>
        <p:txBody>
          <a:bodyPr anchor="t" wrap="square"/>
          <a:lstStyle/>
          <a:p>
            <a:pPr algn="c"/>
            <a:r>
              <a:rPr lang="en-US" sz="1800" b="1">
                <a:solidFill>
                  <a:srgbClr val="111111"/>
                </a:solidFill>
                <a:latin typeface="Aptos"/>
              </a:rPr>
              <a:t>01</a:t>
            </a:r>
            <a:endParaRPr lang="en-US" sz="1800">
              <a:solidFill>
                <a:srgbClr val="111111"/>
              </a:solidFill>
              <a:latin typeface="Aptos"/>
            </a:endParaRPr>
          </a:p>
        </p:txBody>
      </p:sp>
      <p:sp>
        <p:nvSpPr>
          <p:cNvPr id="11" name="Shape 11"/>
          <p:cNvSpPr/>
          <p:nvPr/>
        </p:nvSpPr>
        <p:spPr>
          <a:xfrm>
            <a:off x="3794760" y="3657600"/>
            <a:ext cx="2468880" cy="1828800"/>
          </a:xfrm>
          <a:prstGeom prst="roundRect">
            <a:avLst/>
          </a:prstGeom>
          <a:solidFill>
            <a:srgbClr val="111111"/>
          </a:solidFill>
          <a:ln>
            <a:noFill/>
          </a:ln>
        </p:spPr>
        <p:txBody>
          <a:bodyPr/>
          <a:lstStyle/>
          <a:p/>
        </p:txBody>
      </p:sp>
      <p:sp>
        <p:nvSpPr>
          <p:cNvPr id="12" name="Text 12"/>
          <p:cNvSpPr txBox="1"/>
          <p:nvPr/>
        </p:nvSpPr>
        <p:spPr>
          <a:xfrm>
            <a:off x="3977640" y="3840480"/>
            <a:ext cx="2011680" cy="320040"/>
          </a:xfrm>
          <a:prstGeom prst="rect">
            <a:avLst/>
          </a:prstGeom>
          <a:noFill/>
          <a:ln>
            <a:noFill/>
          </a:ln>
        </p:spPr>
        <p:txBody>
          <a:bodyPr anchor="t" wrap="square"/>
          <a:lstStyle/>
          <a:p>
            <a:pPr algn="l"/>
            <a:r>
              <a:rPr lang="en-US" sz="1600" b="1">
                <a:solidFill>
                  <a:srgbClr val="FFFFFF"/>
                </a:solidFill>
                <a:latin typeface="Aptos"/>
              </a:rPr>
              <a:t>Transact</a:t>
            </a:r>
            <a:endParaRPr lang="en-US" sz="1600">
              <a:solidFill>
                <a:srgbClr val="FFFFFF"/>
              </a:solidFill>
              <a:latin typeface="Aptos"/>
            </a:endParaRPr>
          </a:p>
        </p:txBody>
      </p:sp>
      <p:sp>
        <p:nvSpPr>
          <p:cNvPr id="13" name="Text 13"/>
          <p:cNvSpPr txBox="1"/>
          <p:nvPr/>
        </p:nvSpPr>
        <p:spPr>
          <a:xfrm>
            <a:off x="3977640" y="4297680"/>
            <a:ext cx="2057400" cy="822960"/>
          </a:xfrm>
          <a:prstGeom prst="rect">
            <a:avLst/>
          </a:prstGeom>
          <a:noFill/>
          <a:ln>
            <a:noFill/>
          </a:ln>
        </p:spPr>
        <p:txBody>
          <a:bodyPr anchor="t" wrap="square"/>
          <a:lstStyle/>
          <a:p>
            <a:pPr algn="l"/>
            <a:r>
              <a:rPr lang="en-US" sz="1130" b="0">
                <a:solidFill>
                  <a:srgbClr val="FFFFFF"/>
                </a:solidFill>
                <a:latin typeface="Aptos"/>
              </a:rPr>
              <a:t>Bookings, passes, registrations, and account access need one operating layer.</a:t>
            </a:r>
            <a:endParaRPr lang="en-US" sz="1130">
              <a:solidFill>
                <a:srgbClr val="FFFFFF"/>
              </a:solidFill>
              <a:latin typeface="Aptos"/>
            </a:endParaRPr>
          </a:p>
        </p:txBody>
      </p:sp>
      <p:sp>
        <p:nvSpPr>
          <p:cNvPr id="14" name="Text 14"/>
          <p:cNvSpPr txBox="1"/>
          <p:nvPr/>
        </p:nvSpPr>
        <p:spPr>
          <a:xfrm>
            <a:off x="5760720" y="5120640"/>
            <a:ext cx="274320" cy="274320"/>
          </a:xfrm>
          <a:prstGeom prst="rect">
            <a:avLst/>
          </a:prstGeom>
          <a:noFill/>
          <a:ln>
            <a:noFill/>
          </a:ln>
        </p:spPr>
        <p:txBody>
          <a:bodyPr anchor="t" wrap="square"/>
          <a:lstStyle/>
          <a:p>
            <a:pPr algn="c"/>
            <a:r>
              <a:rPr lang="en-US" sz="1800" b="1">
                <a:solidFill>
                  <a:srgbClr val="FFFFFF"/>
                </a:solidFill>
                <a:latin typeface="Aptos"/>
              </a:rPr>
              <a:t>02</a:t>
            </a:r>
            <a:endParaRPr lang="en-US" sz="1800">
              <a:solidFill>
                <a:srgbClr val="FFFFFF"/>
              </a:solidFill>
              <a:latin typeface="Aptos"/>
            </a:endParaRPr>
          </a:p>
        </p:txBody>
      </p:sp>
      <p:sp>
        <p:nvSpPr>
          <p:cNvPr id="15" name="Shape 15"/>
          <p:cNvSpPr/>
          <p:nvPr/>
        </p:nvSpPr>
        <p:spPr>
          <a:xfrm>
            <a:off x="6675120" y="3657600"/>
            <a:ext cx="2468880" cy="1828800"/>
          </a:xfrm>
          <a:prstGeom prst="roundRect">
            <a:avLst/>
          </a:prstGeom>
          <a:solidFill>
            <a:srgbClr val="E4C056"/>
          </a:solidFill>
          <a:ln>
            <a:noFill/>
          </a:ln>
        </p:spPr>
        <p:txBody>
          <a:bodyPr/>
          <a:lstStyle/>
          <a:p/>
        </p:txBody>
      </p:sp>
      <p:sp>
        <p:nvSpPr>
          <p:cNvPr id="16" name="Text 16"/>
          <p:cNvSpPr txBox="1"/>
          <p:nvPr/>
        </p:nvSpPr>
        <p:spPr>
          <a:xfrm>
            <a:off x="6858000" y="3840480"/>
            <a:ext cx="2011680" cy="320040"/>
          </a:xfrm>
          <a:prstGeom prst="rect">
            <a:avLst/>
          </a:prstGeom>
          <a:noFill/>
          <a:ln>
            <a:noFill/>
          </a:ln>
        </p:spPr>
        <p:txBody>
          <a:bodyPr anchor="t" wrap="square"/>
          <a:lstStyle/>
          <a:p>
            <a:pPr algn="l"/>
            <a:r>
              <a:rPr lang="en-US" sz="1600" b="1">
                <a:solidFill>
                  <a:srgbClr val="111111"/>
                </a:solidFill>
                <a:latin typeface="Aptos"/>
              </a:rPr>
              <a:t>Engage</a:t>
            </a:r>
            <a:endParaRPr lang="en-US" sz="1600">
              <a:solidFill>
                <a:srgbClr val="111111"/>
              </a:solidFill>
              <a:latin typeface="Aptos"/>
            </a:endParaRPr>
          </a:p>
        </p:txBody>
      </p:sp>
      <p:sp>
        <p:nvSpPr>
          <p:cNvPr id="17" name="Text 17"/>
          <p:cNvSpPr txBox="1"/>
          <p:nvPr/>
        </p:nvSpPr>
        <p:spPr>
          <a:xfrm>
            <a:off x="6858000" y="4297680"/>
            <a:ext cx="2057400" cy="822960"/>
          </a:xfrm>
          <a:prstGeom prst="rect">
            <a:avLst/>
          </a:prstGeom>
          <a:noFill/>
          <a:ln>
            <a:noFill/>
          </a:ln>
        </p:spPr>
        <p:txBody>
          <a:bodyPr anchor="t" wrap="square"/>
          <a:lstStyle/>
          <a:p>
            <a:pPr algn="l"/>
            <a:r>
              <a:rPr lang="en-US" sz="1130" b="0">
                <a:solidFill>
                  <a:srgbClr val="111111"/>
                </a:solidFill>
                <a:latin typeface="Aptos"/>
              </a:rPr>
              <a:t>Online games, community participation, and seasonal drops keep users returning.</a:t>
            </a:r>
            <a:endParaRPr lang="en-US" sz="1130">
              <a:solidFill>
                <a:srgbClr val="111111"/>
              </a:solidFill>
              <a:latin typeface="Aptos"/>
            </a:endParaRPr>
          </a:p>
        </p:txBody>
      </p:sp>
      <p:sp>
        <p:nvSpPr>
          <p:cNvPr id="18" name="Text 18"/>
          <p:cNvSpPr txBox="1"/>
          <p:nvPr/>
        </p:nvSpPr>
        <p:spPr>
          <a:xfrm>
            <a:off x="8641080" y="5120640"/>
            <a:ext cx="274320" cy="274320"/>
          </a:xfrm>
          <a:prstGeom prst="rect">
            <a:avLst/>
          </a:prstGeom>
          <a:noFill/>
          <a:ln>
            <a:noFill/>
          </a:ln>
        </p:spPr>
        <p:txBody>
          <a:bodyPr anchor="t" wrap="square"/>
          <a:lstStyle/>
          <a:p>
            <a:pPr algn="c"/>
            <a:r>
              <a:rPr lang="en-US" sz="1800" b="1">
                <a:solidFill>
                  <a:srgbClr val="111111"/>
                </a:solidFill>
                <a:latin typeface="Aptos"/>
              </a:rPr>
              <a:t>03</a:t>
            </a:r>
            <a:endParaRPr lang="en-US" sz="1800">
              <a:solidFill>
                <a:srgbClr val="111111"/>
              </a:solidFill>
              <a:latin typeface="Aptos"/>
            </a:endParaRPr>
          </a:p>
        </p:txBody>
      </p:sp>
      <p:sp>
        <p:nvSpPr>
          <p:cNvPr id="19" name="Shape 19"/>
          <p:cNvSpPr/>
          <p:nvPr/>
        </p:nvSpPr>
        <p:spPr>
          <a:xfrm>
            <a:off x="9555480" y="3657600"/>
            <a:ext cx="2468880" cy="1828800"/>
          </a:xfrm>
          <a:prstGeom prst="roundRect">
            <a:avLst/>
          </a:prstGeom>
          <a:solidFill>
            <a:srgbClr val="D55A43"/>
          </a:solidFill>
          <a:ln>
            <a:noFill/>
          </a:ln>
        </p:spPr>
        <p:txBody>
          <a:bodyPr/>
          <a:lstStyle/>
          <a:p/>
        </p:txBody>
      </p:sp>
      <p:sp>
        <p:nvSpPr>
          <p:cNvPr id="20" name="Text 20"/>
          <p:cNvSpPr txBox="1"/>
          <p:nvPr/>
        </p:nvSpPr>
        <p:spPr>
          <a:xfrm>
            <a:off x="9738359" y="3840480"/>
            <a:ext cx="2011680" cy="320040"/>
          </a:xfrm>
          <a:prstGeom prst="rect">
            <a:avLst/>
          </a:prstGeom>
          <a:noFill/>
          <a:ln>
            <a:noFill/>
          </a:ln>
        </p:spPr>
        <p:txBody>
          <a:bodyPr anchor="t" wrap="square"/>
          <a:lstStyle/>
          <a:p>
            <a:pPr algn="l"/>
            <a:r>
              <a:rPr lang="en-US" sz="1600" b="1">
                <a:solidFill>
                  <a:srgbClr val="FFFFFF"/>
                </a:solidFill>
                <a:latin typeface="Aptos"/>
              </a:rPr>
              <a:t>Retain</a:t>
            </a:r>
            <a:endParaRPr lang="en-US" sz="1600">
              <a:solidFill>
                <a:srgbClr val="FFFFFF"/>
              </a:solidFill>
              <a:latin typeface="Aptos"/>
            </a:endParaRPr>
          </a:p>
        </p:txBody>
      </p:sp>
      <p:sp>
        <p:nvSpPr>
          <p:cNvPr id="21" name="Text 21"/>
          <p:cNvSpPr txBox="1"/>
          <p:nvPr/>
        </p:nvSpPr>
        <p:spPr>
          <a:xfrm>
            <a:off x="9738359" y="4297680"/>
            <a:ext cx="2057400" cy="822960"/>
          </a:xfrm>
          <a:prstGeom prst="rect">
            <a:avLst/>
          </a:prstGeom>
          <a:noFill/>
          <a:ln>
            <a:noFill/>
          </a:ln>
        </p:spPr>
        <p:txBody>
          <a:bodyPr anchor="t" wrap="square"/>
          <a:lstStyle/>
          <a:p>
            <a:pPr algn="l"/>
            <a:r>
              <a:rPr lang="en-US" sz="1130" b="0">
                <a:solidFill>
                  <a:srgbClr val="FFFFFF"/>
                </a:solidFill>
                <a:latin typeface="Aptos"/>
              </a:rPr>
              <a:t>Membership, credits, team identity, and venue loyalty drive repeat demand.</a:t>
            </a:r>
            <a:endParaRPr lang="en-US" sz="1130">
              <a:solidFill>
                <a:srgbClr val="FFFFFF"/>
              </a:solidFill>
              <a:latin typeface="Aptos"/>
            </a:endParaRPr>
          </a:p>
        </p:txBody>
      </p:sp>
      <p:sp>
        <p:nvSpPr>
          <p:cNvPr id="22" name="Text 22"/>
          <p:cNvSpPr txBox="1"/>
          <p:nvPr/>
        </p:nvSpPr>
        <p:spPr>
          <a:xfrm>
            <a:off x="11521440" y="5120640"/>
            <a:ext cx="274320" cy="274320"/>
          </a:xfrm>
          <a:prstGeom prst="rect">
            <a:avLst/>
          </a:prstGeom>
          <a:noFill/>
          <a:ln>
            <a:noFill/>
          </a:ln>
        </p:spPr>
        <p:txBody>
          <a:bodyPr anchor="t" wrap="square"/>
          <a:lstStyle/>
          <a:p>
            <a:pPr algn="c"/>
            <a:r>
              <a:rPr lang="en-US" sz="1800" b="1">
                <a:solidFill>
                  <a:srgbClr val="FFFFFF"/>
                </a:solidFill>
                <a:latin typeface="Aptos"/>
              </a:rPr>
              <a:t>04</a:t>
            </a:r>
            <a:endParaRPr lang="en-US" sz="1800">
              <a:solidFill>
                <a:srgbClr val="FFFFFF"/>
              </a:solidFill>
              <a:latin typeface="Apto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16181D"/>
          </a:solidFill>
          <a:ln>
            <a:noFill/>
          </a:ln>
        </p:spPr>
        <p:txBody>
          <a:bodyPr/>
          <a:lstStyle/>
          <a:p/>
        </p:txBody>
      </p:sp>
      <p:sp>
        <p:nvSpPr>
          <p:cNvPr id="3" name="Shape 3"/>
          <p:cNvSpPr/>
          <p:nvPr/>
        </p:nvSpPr>
        <p:spPr>
          <a:xfrm>
            <a:off x="640080" y="640080"/>
            <a:ext cx="4069080" cy="5577840"/>
          </a:xfrm>
          <a:prstGeom prst="roundRect">
            <a:avLst/>
          </a:prstGeom>
          <a:solidFill>
            <a:srgbClr val="F5C242"/>
          </a:solidFill>
          <a:ln>
            <a:noFill/>
          </a:ln>
        </p:spPr>
        <p:txBody>
          <a:bodyPr/>
          <a:lstStyle/>
          <a:p/>
        </p:txBody>
      </p:sp>
      <p:sp>
        <p:nvSpPr>
          <p:cNvPr id="4" name="Text 4"/>
          <p:cNvSpPr txBox="1"/>
          <p:nvPr/>
        </p:nvSpPr>
        <p:spPr>
          <a:xfrm>
            <a:off x="960120" y="914400"/>
            <a:ext cx="3200400" cy="411480"/>
          </a:xfrm>
          <a:prstGeom prst="rect">
            <a:avLst/>
          </a:prstGeom>
          <a:noFill/>
          <a:ln>
            <a:noFill/>
          </a:ln>
        </p:spPr>
        <p:txBody>
          <a:bodyPr anchor="t" wrap="square"/>
          <a:lstStyle/>
          <a:p>
            <a:pPr algn="l"/>
            <a:r>
              <a:rPr lang="en-US" sz="1200" b="1" cap="all">
                <a:solidFill>
                  <a:srgbClr val="0B0D10"/>
                </a:solidFill>
                <a:latin typeface="Aptos"/>
              </a:rPr>
              <a:t>Platform thesis</a:t>
            </a:r>
            <a:endParaRPr lang="en-US" sz="1200">
              <a:solidFill>
                <a:srgbClr val="0B0D10"/>
              </a:solidFill>
              <a:latin typeface="Aptos"/>
            </a:endParaRPr>
          </a:p>
        </p:txBody>
      </p:sp>
      <p:sp>
        <p:nvSpPr>
          <p:cNvPr id="5" name="Text 5"/>
          <p:cNvSpPr txBox="1"/>
          <p:nvPr/>
        </p:nvSpPr>
        <p:spPr>
          <a:xfrm>
            <a:off x="960120" y="1417320"/>
            <a:ext cx="3291840" cy="1463040"/>
          </a:xfrm>
          <a:prstGeom prst="rect">
            <a:avLst/>
          </a:prstGeom>
          <a:noFill/>
          <a:ln>
            <a:noFill/>
          </a:ln>
        </p:spPr>
        <p:txBody>
          <a:bodyPr anchor="t" wrap="square"/>
          <a:lstStyle/>
          <a:p>
            <a:pPr algn="l"/>
            <a:r>
              <a:rPr lang="en-US" sz="2700" b="1">
                <a:solidFill>
                  <a:srgbClr val="0B0D10"/>
                </a:solidFill>
                <a:latin typeface="Georgia"/>
              </a:rPr>
              <a:t>One system for play, programming, access, and return.</a:t>
            </a:r>
            <a:endParaRPr lang="en-US" sz="2700">
              <a:solidFill>
                <a:srgbClr val="0B0D10"/>
              </a:solidFill>
              <a:latin typeface="Georgia"/>
            </a:endParaRPr>
          </a:p>
        </p:txBody>
      </p:sp>
      <p:sp>
        <p:nvSpPr>
          <p:cNvPr id="6" name="Text 6"/>
          <p:cNvSpPr txBox="1"/>
          <p:nvPr/>
        </p:nvSpPr>
        <p:spPr>
          <a:xfrm>
            <a:off x="960120" y="3246120"/>
            <a:ext cx="3246120" cy="1234440"/>
          </a:xfrm>
          <a:prstGeom prst="rect">
            <a:avLst/>
          </a:prstGeom>
          <a:noFill/>
          <a:ln>
            <a:noFill/>
          </a:ln>
        </p:spPr>
        <p:txBody>
          <a:bodyPr anchor="t" wrap="square"/>
          <a:lstStyle/>
          <a:p>
            <a:pPr algn="l"/>
            <a:r>
              <a:rPr lang="en-US" sz="1250" b="0">
                <a:solidFill>
                  <a:srgbClr val="2A2620"/>
                </a:solidFill>
                <a:latin typeface="Aptos"/>
              </a:rPr>
              <a:t>Recroom Games connects digital products with physical entertainment operations instead of treating them as separate businesses.</a:t>
            </a:r>
            <a:endParaRPr lang="en-US" sz="1250">
              <a:solidFill>
                <a:srgbClr val="2A2620"/>
              </a:solidFill>
              <a:latin typeface="Aptos"/>
            </a:endParaRPr>
          </a:p>
        </p:txBody>
      </p:sp>
      <p:sp>
        <p:nvSpPr>
          <p:cNvPr id="7" name="Shape 7"/>
          <p:cNvSpPr/>
          <p:nvPr/>
        </p:nvSpPr>
        <p:spPr>
          <a:xfrm>
            <a:off x="5029200" y="914400"/>
            <a:ext cx="2331720" cy="1417320"/>
          </a:xfrm>
          <a:prstGeom prst="roundRect">
            <a:avLst/>
          </a:prstGeom>
          <a:solidFill>
            <a:srgbClr val="151A22"/>
          </a:solidFill>
          <a:ln w="12700">
            <a:solidFill>
              <a:srgbClr val="283142"/>
            </a:solidFill>
          </a:ln>
        </p:spPr>
        <p:txBody>
          <a:bodyPr/>
          <a:lstStyle/>
          <a:p/>
        </p:txBody>
      </p:sp>
      <p:sp>
        <p:nvSpPr>
          <p:cNvPr id="8" name="Text 8"/>
          <p:cNvSpPr txBox="1"/>
          <p:nvPr/>
        </p:nvSpPr>
        <p:spPr>
          <a:xfrm>
            <a:off x="5193792" y="1078992"/>
            <a:ext cx="1828800" cy="292608"/>
          </a:xfrm>
          <a:prstGeom prst="rect">
            <a:avLst/>
          </a:prstGeom>
          <a:noFill/>
          <a:ln>
            <a:noFill/>
          </a:ln>
        </p:spPr>
        <p:txBody>
          <a:bodyPr anchor="t" wrap="square"/>
          <a:lstStyle/>
          <a:p>
            <a:pPr algn="l"/>
            <a:r>
              <a:rPr lang="en-US" sz="1450" b="1">
                <a:solidFill>
                  <a:srgbClr val="FFFFFF"/>
                </a:solidFill>
                <a:latin typeface="Aptos"/>
              </a:rPr>
              <a:t>Online games</a:t>
            </a:r>
            <a:endParaRPr lang="en-US" sz="1450">
              <a:solidFill>
                <a:srgbClr val="FFFFFF"/>
              </a:solidFill>
              <a:latin typeface="Aptos"/>
            </a:endParaRPr>
          </a:p>
        </p:txBody>
      </p:sp>
      <p:sp>
        <p:nvSpPr>
          <p:cNvPr id="9" name="Text 9"/>
          <p:cNvSpPr txBox="1"/>
          <p:nvPr/>
        </p:nvSpPr>
        <p:spPr>
          <a:xfrm>
            <a:off x="5193792" y="1426464"/>
            <a:ext cx="1920240" cy="640080"/>
          </a:xfrm>
          <a:prstGeom prst="rect">
            <a:avLst/>
          </a:prstGeom>
          <a:noFill/>
          <a:ln>
            <a:noFill/>
          </a:ln>
        </p:spPr>
        <p:txBody>
          <a:bodyPr anchor="t" wrap="square"/>
          <a:lstStyle/>
          <a:p>
            <a:pPr algn="l"/>
            <a:r>
              <a:rPr lang="en-US" sz="1050" b="0">
                <a:solidFill>
                  <a:srgbClr val="D5DBE3"/>
                </a:solidFill>
                <a:latin typeface="Aptos"/>
              </a:rPr>
              <a:t>Adaptive game products, browser play, and recurring digital engagement.</a:t>
            </a:r>
            <a:endParaRPr lang="en-US" sz="1050">
              <a:solidFill>
                <a:srgbClr val="D5DBE3"/>
              </a:solidFill>
              <a:latin typeface="Aptos"/>
            </a:endParaRPr>
          </a:p>
        </p:txBody>
      </p:sp>
      <p:sp>
        <p:nvSpPr>
          <p:cNvPr id="10" name="Shape 10"/>
          <p:cNvSpPr/>
          <p:nvPr/>
        </p:nvSpPr>
        <p:spPr>
          <a:xfrm>
            <a:off x="7818120" y="914400"/>
            <a:ext cx="2331720" cy="1417320"/>
          </a:xfrm>
          <a:prstGeom prst="roundRect">
            <a:avLst/>
          </a:prstGeom>
          <a:solidFill>
            <a:srgbClr val="151A22"/>
          </a:solidFill>
          <a:ln w="12700">
            <a:solidFill>
              <a:srgbClr val="283142"/>
            </a:solidFill>
          </a:ln>
        </p:spPr>
        <p:txBody>
          <a:bodyPr/>
          <a:lstStyle/>
          <a:p/>
        </p:txBody>
      </p:sp>
      <p:sp>
        <p:nvSpPr>
          <p:cNvPr id="11" name="Text 11"/>
          <p:cNvSpPr txBox="1"/>
          <p:nvPr/>
        </p:nvSpPr>
        <p:spPr>
          <a:xfrm>
            <a:off x="7982712" y="1078992"/>
            <a:ext cx="1828800" cy="292608"/>
          </a:xfrm>
          <a:prstGeom prst="rect">
            <a:avLst/>
          </a:prstGeom>
          <a:noFill/>
          <a:ln>
            <a:noFill/>
          </a:ln>
        </p:spPr>
        <p:txBody>
          <a:bodyPr anchor="t" wrap="square"/>
          <a:lstStyle/>
          <a:p>
            <a:pPr algn="l"/>
            <a:r>
              <a:rPr lang="en-US" sz="1450" b="1">
                <a:solidFill>
                  <a:srgbClr val="FFFFFF"/>
                </a:solidFill>
                <a:latin typeface="Aptos"/>
              </a:rPr>
              <a:t>Venue operations</a:t>
            </a:r>
            <a:endParaRPr lang="en-US" sz="1450">
              <a:solidFill>
                <a:srgbClr val="FFFFFF"/>
              </a:solidFill>
              <a:latin typeface="Aptos"/>
            </a:endParaRPr>
          </a:p>
        </p:txBody>
      </p:sp>
      <p:sp>
        <p:nvSpPr>
          <p:cNvPr id="12" name="Text 12"/>
          <p:cNvSpPr txBox="1"/>
          <p:nvPr/>
        </p:nvSpPr>
        <p:spPr>
          <a:xfrm>
            <a:off x="7982712" y="1426464"/>
            <a:ext cx="1920240" cy="640080"/>
          </a:xfrm>
          <a:prstGeom prst="rect">
            <a:avLst/>
          </a:prstGeom>
          <a:noFill/>
          <a:ln>
            <a:noFill/>
          </a:ln>
        </p:spPr>
        <p:txBody>
          <a:bodyPr anchor="t" wrap="square"/>
          <a:lstStyle/>
          <a:p>
            <a:pPr algn="l"/>
            <a:r>
              <a:rPr lang="en-US" sz="1050" b="0">
                <a:solidFill>
                  <a:srgbClr val="D5DBE3"/>
                </a:solidFill>
                <a:latin typeface="Aptos"/>
              </a:rPr>
              <a:t>Sessions, parties, events, and guest scheduling from one surface.</a:t>
            </a:r>
            <a:endParaRPr lang="en-US" sz="1050">
              <a:solidFill>
                <a:srgbClr val="D5DBE3"/>
              </a:solidFill>
              <a:latin typeface="Aptos"/>
            </a:endParaRPr>
          </a:p>
        </p:txBody>
      </p:sp>
      <p:sp>
        <p:nvSpPr>
          <p:cNvPr id="13" name="Shape 13"/>
          <p:cNvSpPr/>
          <p:nvPr/>
        </p:nvSpPr>
        <p:spPr>
          <a:xfrm>
            <a:off x="5029200" y="2926080"/>
            <a:ext cx="2331720" cy="1417320"/>
          </a:xfrm>
          <a:prstGeom prst="roundRect">
            <a:avLst/>
          </a:prstGeom>
          <a:solidFill>
            <a:srgbClr val="151A22"/>
          </a:solidFill>
          <a:ln w="12700">
            <a:solidFill>
              <a:srgbClr val="283142"/>
            </a:solidFill>
          </a:ln>
        </p:spPr>
        <p:txBody>
          <a:bodyPr/>
          <a:lstStyle/>
          <a:p/>
        </p:txBody>
      </p:sp>
      <p:sp>
        <p:nvSpPr>
          <p:cNvPr id="14" name="Text 14"/>
          <p:cNvSpPr txBox="1"/>
          <p:nvPr/>
        </p:nvSpPr>
        <p:spPr>
          <a:xfrm>
            <a:off x="5193792" y="3090672"/>
            <a:ext cx="1828800" cy="292608"/>
          </a:xfrm>
          <a:prstGeom prst="rect">
            <a:avLst/>
          </a:prstGeom>
          <a:noFill/>
          <a:ln>
            <a:noFill/>
          </a:ln>
        </p:spPr>
        <p:txBody>
          <a:bodyPr anchor="t" wrap="square"/>
          <a:lstStyle/>
          <a:p>
            <a:pPr algn="l"/>
            <a:r>
              <a:rPr lang="en-US" sz="1450" b="1">
                <a:solidFill>
                  <a:srgbClr val="FFFFFF"/>
                </a:solidFill>
                <a:latin typeface="Aptos"/>
              </a:rPr>
              <a:t>Sports and leagues</a:t>
            </a:r>
            <a:endParaRPr lang="en-US" sz="1450">
              <a:solidFill>
                <a:srgbClr val="FFFFFF"/>
              </a:solidFill>
              <a:latin typeface="Aptos"/>
            </a:endParaRPr>
          </a:p>
        </p:txBody>
      </p:sp>
      <p:sp>
        <p:nvSpPr>
          <p:cNvPr id="15" name="Text 15"/>
          <p:cNvSpPr txBox="1"/>
          <p:nvPr/>
        </p:nvSpPr>
        <p:spPr>
          <a:xfrm>
            <a:off x="5193792" y="3438144"/>
            <a:ext cx="1920240" cy="640080"/>
          </a:xfrm>
          <a:prstGeom prst="rect">
            <a:avLst/>
          </a:prstGeom>
          <a:noFill/>
          <a:ln>
            <a:noFill/>
          </a:ln>
        </p:spPr>
        <p:txBody>
          <a:bodyPr anchor="t" wrap="square"/>
          <a:lstStyle/>
          <a:p>
            <a:pPr algn="l"/>
            <a:r>
              <a:rPr lang="en-US" sz="1050" b="0">
                <a:solidFill>
                  <a:srgbClr val="D5DBE3"/>
                </a:solidFill>
                <a:latin typeface="Aptos"/>
              </a:rPr>
              <a:t>Registrations, fixtures, court inventory, and recurring pass structures.</a:t>
            </a:r>
            <a:endParaRPr lang="en-US" sz="1050">
              <a:solidFill>
                <a:srgbClr val="D5DBE3"/>
              </a:solidFill>
              <a:latin typeface="Aptos"/>
            </a:endParaRPr>
          </a:p>
        </p:txBody>
      </p:sp>
      <p:sp>
        <p:nvSpPr>
          <p:cNvPr id="16" name="Shape 16"/>
          <p:cNvSpPr/>
          <p:nvPr/>
        </p:nvSpPr>
        <p:spPr>
          <a:xfrm>
            <a:off x="7818120" y="2926080"/>
            <a:ext cx="2331720" cy="1417320"/>
          </a:xfrm>
          <a:prstGeom prst="roundRect">
            <a:avLst/>
          </a:prstGeom>
          <a:solidFill>
            <a:srgbClr val="151A22"/>
          </a:solidFill>
          <a:ln w="12700">
            <a:solidFill>
              <a:srgbClr val="283142"/>
            </a:solidFill>
          </a:ln>
        </p:spPr>
        <p:txBody>
          <a:bodyPr/>
          <a:lstStyle/>
          <a:p/>
        </p:txBody>
      </p:sp>
      <p:sp>
        <p:nvSpPr>
          <p:cNvPr id="17" name="Text 17"/>
          <p:cNvSpPr txBox="1"/>
          <p:nvPr/>
        </p:nvSpPr>
        <p:spPr>
          <a:xfrm>
            <a:off x="7982712" y="3090672"/>
            <a:ext cx="1828800" cy="292608"/>
          </a:xfrm>
          <a:prstGeom prst="rect">
            <a:avLst/>
          </a:prstGeom>
          <a:noFill/>
          <a:ln>
            <a:noFill/>
          </a:ln>
        </p:spPr>
        <p:txBody>
          <a:bodyPr anchor="t" wrap="square"/>
          <a:lstStyle/>
          <a:p>
            <a:pPr algn="l"/>
            <a:r>
              <a:rPr lang="en-US" sz="1450" b="1">
                <a:solidFill>
                  <a:srgbClr val="FFFFFF"/>
                </a:solidFill>
                <a:latin typeface="Aptos"/>
              </a:rPr>
              <a:t>AR / VR</a:t>
            </a:r>
            <a:endParaRPr lang="en-US" sz="1450">
              <a:solidFill>
                <a:srgbClr val="FFFFFF"/>
              </a:solidFill>
              <a:latin typeface="Aptos"/>
            </a:endParaRPr>
          </a:p>
        </p:txBody>
      </p:sp>
      <p:sp>
        <p:nvSpPr>
          <p:cNvPr id="18" name="Text 18"/>
          <p:cNvSpPr txBox="1"/>
          <p:nvPr/>
        </p:nvSpPr>
        <p:spPr>
          <a:xfrm>
            <a:off x="7982712" y="3438144"/>
            <a:ext cx="1920240" cy="640080"/>
          </a:xfrm>
          <a:prstGeom prst="rect">
            <a:avLst/>
          </a:prstGeom>
          <a:noFill/>
          <a:ln>
            <a:noFill/>
          </a:ln>
        </p:spPr>
        <p:txBody>
          <a:bodyPr anchor="t" wrap="square"/>
          <a:lstStyle/>
          <a:p>
            <a:pPr algn="l"/>
            <a:r>
              <a:rPr lang="en-US" sz="1050" b="0">
                <a:solidFill>
                  <a:srgbClr val="D5DBE3"/>
                </a:solidFill>
                <a:latin typeface="Aptos"/>
              </a:rPr>
              <a:t>Immersive rooms, timed experiences, activations, and mixed-reality programs.</a:t>
            </a:r>
            <a:endParaRPr lang="en-US" sz="1050">
              <a:solidFill>
                <a:srgbClr val="D5DBE3"/>
              </a:solidFill>
              <a:latin typeface="Aptos"/>
            </a:endParaRPr>
          </a:p>
        </p:txBody>
      </p:sp>
      <p:sp>
        <p:nvSpPr>
          <p:cNvPr id="19" name="Shape 19"/>
          <p:cNvSpPr/>
          <p:nvPr/>
        </p:nvSpPr>
        <p:spPr>
          <a:xfrm>
            <a:off x="5029200" y="4937760"/>
            <a:ext cx="2331720" cy="1417320"/>
          </a:xfrm>
          <a:prstGeom prst="roundRect">
            <a:avLst/>
          </a:prstGeom>
          <a:solidFill>
            <a:srgbClr val="151A22"/>
          </a:solidFill>
          <a:ln w="12700">
            <a:solidFill>
              <a:srgbClr val="283142"/>
            </a:solidFill>
          </a:ln>
        </p:spPr>
        <p:txBody>
          <a:bodyPr/>
          <a:lstStyle/>
          <a:p/>
        </p:txBody>
      </p:sp>
      <p:sp>
        <p:nvSpPr>
          <p:cNvPr id="20" name="Text 20"/>
          <p:cNvSpPr txBox="1"/>
          <p:nvPr/>
        </p:nvSpPr>
        <p:spPr>
          <a:xfrm>
            <a:off x="5193792" y="5102352"/>
            <a:ext cx="1828800" cy="292608"/>
          </a:xfrm>
          <a:prstGeom prst="rect">
            <a:avLst/>
          </a:prstGeom>
          <a:noFill/>
          <a:ln>
            <a:noFill/>
          </a:ln>
        </p:spPr>
        <p:txBody>
          <a:bodyPr anchor="t" wrap="square"/>
          <a:lstStyle/>
          <a:p>
            <a:pPr algn="l"/>
            <a:r>
              <a:rPr lang="en-US" sz="1450" b="1">
                <a:solidFill>
                  <a:srgbClr val="FFFFFF"/>
                </a:solidFill>
                <a:latin typeface="Aptos"/>
              </a:rPr>
              <a:t>Membership + identity</a:t>
            </a:r>
            <a:endParaRPr lang="en-US" sz="1450">
              <a:solidFill>
                <a:srgbClr val="FFFFFF"/>
              </a:solidFill>
              <a:latin typeface="Aptos"/>
            </a:endParaRPr>
          </a:p>
        </p:txBody>
      </p:sp>
      <p:sp>
        <p:nvSpPr>
          <p:cNvPr id="21" name="Text 21"/>
          <p:cNvSpPr txBox="1"/>
          <p:nvPr/>
        </p:nvSpPr>
        <p:spPr>
          <a:xfrm>
            <a:off x="5193792" y="5449824"/>
            <a:ext cx="1920240" cy="640080"/>
          </a:xfrm>
          <a:prstGeom prst="rect">
            <a:avLst/>
          </a:prstGeom>
          <a:noFill/>
          <a:ln>
            <a:noFill/>
          </a:ln>
        </p:spPr>
        <p:txBody>
          <a:bodyPr anchor="t" wrap="square"/>
          <a:lstStyle/>
          <a:p>
            <a:pPr algn="l"/>
            <a:r>
              <a:rPr lang="en-US" sz="1050" b="0">
                <a:solidFill>
                  <a:srgbClr val="D5DBE3"/>
                </a:solidFill>
                <a:latin typeface="Aptos"/>
              </a:rPr>
              <a:t>Accounts, credits, loyalty, squads, return behavior, and pricing logic.</a:t>
            </a:r>
            <a:endParaRPr lang="en-US" sz="1050">
              <a:solidFill>
                <a:srgbClr val="D5DBE3"/>
              </a:solidFill>
              <a:latin typeface="Aptos"/>
            </a:endParaRPr>
          </a:p>
        </p:txBody>
      </p:sp>
      <p:sp>
        <p:nvSpPr>
          <p:cNvPr id="22" name="Shape 22"/>
          <p:cNvSpPr/>
          <p:nvPr/>
        </p:nvSpPr>
        <p:spPr>
          <a:xfrm>
            <a:off x="7818120" y="4937760"/>
            <a:ext cx="2331720" cy="1417320"/>
          </a:xfrm>
          <a:prstGeom prst="roundRect">
            <a:avLst/>
          </a:prstGeom>
          <a:solidFill>
            <a:srgbClr val="151A22"/>
          </a:solidFill>
          <a:ln w="12700">
            <a:solidFill>
              <a:srgbClr val="283142"/>
            </a:solidFill>
          </a:ln>
        </p:spPr>
        <p:txBody>
          <a:bodyPr/>
          <a:lstStyle/>
          <a:p/>
        </p:txBody>
      </p:sp>
      <p:sp>
        <p:nvSpPr>
          <p:cNvPr id="23" name="Text 23"/>
          <p:cNvSpPr txBox="1"/>
          <p:nvPr/>
        </p:nvSpPr>
        <p:spPr>
          <a:xfrm>
            <a:off x="7982712" y="5102352"/>
            <a:ext cx="1828800" cy="292608"/>
          </a:xfrm>
          <a:prstGeom prst="rect">
            <a:avLst/>
          </a:prstGeom>
          <a:noFill/>
          <a:ln>
            <a:noFill/>
          </a:ln>
        </p:spPr>
        <p:txBody>
          <a:bodyPr anchor="t" wrap="square"/>
          <a:lstStyle/>
          <a:p>
            <a:pPr algn="l"/>
            <a:r>
              <a:rPr lang="en-US" sz="1450" b="1">
                <a:solidFill>
                  <a:srgbClr val="FFFFFF"/>
                </a:solidFill>
                <a:latin typeface="Aptos"/>
              </a:rPr>
              <a:t>Creator pipeline</a:t>
            </a:r>
            <a:endParaRPr lang="en-US" sz="1450">
              <a:solidFill>
                <a:srgbClr val="FFFFFF"/>
              </a:solidFill>
              <a:latin typeface="Aptos"/>
            </a:endParaRPr>
          </a:p>
        </p:txBody>
      </p:sp>
      <p:sp>
        <p:nvSpPr>
          <p:cNvPr id="24" name="Text 24"/>
          <p:cNvSpPr txBox="1"/>
          <p:nvPr/>
        </p:nvSpPr>
        <p:spPr>
          <a:xfrm>
            <a:off x="7982712" y="5449824"/>
            <a:ext cx="1920240" cy="640080"/>
          </a:xfrm>
          <a:prstGeom prst="rect">
            <a:avLst/>
          </a:prstGeom>
          <a:noFill/>
          <a:ln>
            <a:noFill/>
          </a:ln>
        </p:spPr>
        <p:txBody>
          <a:bodyPr anchor="t" wrap="square"/>
          <a:lstStyle/>
          <a:p>
            <a:pPr algn="l"/>
            <a:r>
              <a:rPr lang="en-US" sz="1050" b="0">
                <a:solidFill>
                  <a:srgbClr val="D5DBE3"/>
                </a:solidFill>
                <a:latin typeface="Aptos"/>
              </a:rPr>
              <a:t>In-house builds, playtests, launches, and showcase programming.</a:t>
            </a:r>
            <a:endParaRPr lang="en-US" sz="1050">
              <a:solidFill>
                <a:srgbClr val="D5DBE3"/>
              </a:solidFill>
              <a:latin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FF9F0"/>
          </a:solidFill>
          <a:ln>
            <a:noFill/>
          </a:ln>
        </p:spPr>
        <p:txBody>
          <a:bodyPr/>
          <a:lstStyle/>
          <a:p/>
        </p:txBody>
      </p:sp>
      <p:sp>
        <p:nvSpPr>
          <p:cNvPr id="3" name="Text 3"/>
          <p:cNvSpPr txBox="1"/>
          <p:nvPr/>
        </p:nvSpPr>
        <p:spPr>
          <a:xfrm>
            <a:off x="822960" y="868680"/>
            <a:ext cx="5029200" cy="502920"/>
          </a:xfrm>
          <a:prstGeom prst="rect">
            <a:avLst/>
          </a:prstGeom>
          <a:noFill/>
          <a:ln>
            <a:noFill/>
          </a:ln>
        </p:spPr>
        <p:txBody>
          <a:bodyPr anchor="t" wrap="square"/>
          <a:lstStyle/>
          <a:p>
            <a:pPr algn="l"/>
            <a:r>
              <a:rPr lang="en-US" sz="2600" b="1">
                <a:solidFill>
                  <a:srgbClr val="111111"/>
                </a:solidFill>
                <a:latin typeface="Georgia"/>
              </a:rPr>
              <a:t>A digital entertainment stack with multiple revenue layers.</a:t>
            </a:r>
            <a:endParaRPr lang="en-US" sz="2600">
              <a:solidFill>
                <a:srgbClr val="111111"/>
              </a:solidFill>
              <a:latin typeface="Georgia"/>
            </a:endParaRPr>
          </a:p>
        </p:txBody>
      </p:sp>
      <p:sp>
        <p:nvSpPr>
          <p:cNvPr id="4" name="Text 4"/>
          <p:cNvSpPr txBox="1"/>
          <p:nvPr/>
        </p:nvSpPr>
        <p:spPr>
          <a:xfrm>
            <a:off x="822960" y="1600200"/>
            <a:ext cx="5029200" cy="731520"/>
          </a:xfrm>
          <a:prstGeom prst="rect">
            <a:avLst/>
          </a:prstGeom>
          <a:noFill/>
          <a:ln>
            <a:noFill/>
          </a:ln>
        </p:spPr>
        <p:txBody>
          <a:bodyPr anchor="t" wrap="square"/>
          <a:lstStyle/>
          <a:p>
            <a:pPr algn="l"/>
            <a:r>
              <a:rPr lang="en-US" sz="1270" b="0">
                <a:solidFill>
                  <a:srgbClr val="5A616C"/>
                </a:solidFill>
                <a:latin typeface="Aptos"/>
              </a:rPr>
              <a:t>The opportunity is not one app. It is a system that monetizes gameplay, access, events, memberships, and destination programming together.</a:t>
            </a:r>
            <a:endParaRPr lang="en-US" sz="1270">
              <a:solidFill>
                <a:srgbClr val="5A616C"/>
              </a:solidFill>
              <a:latin typeface="Aptos"/>
            </a:endParaRPr>
          </a:p>
        </p:txBody>
      </p:sp>
      <p:pic>
        <p:nvPicPr>
          <p:cNvPr id="5" name="Picture 5" descr="cntower.jpeg"/>
          <p:cNvPicPr>
            <a:picLocks noChangeAspect="1"/>
          </p:cNvPicPr>
          <p:nvPr/>
        </p:nvPicPr>
        <p:blipFill>
          <a:blip r:embed="rId2"/>
          <a:stretch>
            <a:fillRect/>
          </a:stretch>
        </p:blipFill>
        <p:spPr>
          <a:xfrm>
            <a:off x="6675120" y="731520"/>
            <a:ext cx="4572000" cy="2423160"/>
          </a:xfrm>
          <a:prstGeom prst="roundRect">
            <a:avLst/>
          </a:prstGeom>
        </p:spPr>
      </p:pic>
      <p:sp>
        <p:nvSpPr>
          <p:cNvPr id="6" name="Shape 6"/>
          <p:cNvSpPr/>
          <p:nvPr/>
        </p:nvSpPr>
        <p:spPr>
          <a:xfrm>
            <a:off x="868680" y="3703320"/>
            <a:ext cx="2633472" cy="1874519"/>
          </a:xfrm>
          <a:prstGeom prst="roundRect">
            <a:avLst/>
          </a:prstGeom>
          <a:solidFill>
            <a:srgbClr val="F6F0E5"/>
          </a:solidFill>
          <a:ln w="12700">
            <a:solidFill>
              <a:srgbClr val="D6CAB3"/>
            </a:solidFill>
          </a:ln>
        </p:spPr>
        <p:txBody>
          <a:bodyPr/>
          <a:lstStyle/>
          <a:p/>
        </p:txBody>
      </p:sp>
      <p:sp>
        <p:nvSpPr>
          <p:cNvPr id="7" name="Text 7"/>
          <p:cNvSpPr txBox="1"/>
          <p:nvPr/>
        </p:nvSpPr>
        <p:spPr>
          <a:xfrm>
            <a:off x="1033271" y="3913632"/>
            <a:ext cx="2103120" cy="320040"/>
          </a:xfrm>
          <a:prstGeom prst="rect">
            <a:avLst/>
          </a:prstGeom>
          <a:noFill/>
          <a:ln>
            <a:noFill/>
          </a:ln>
        </p:spPr>
        <p:txBody>
          <a:bodyPr anchor="t" wrap="square"/>
          <a:lstStyle/>
          <a:p>
            <a:pPr algn="l"/>
            <a:r>
              <a:rPr lang="en-US" sz="1500" b="1">
                <a:solidFill>
                  <a:srgbClr val="111111"/>
                </a:solidFill>
                <a:latin typeface="Aptos"/>
              </a:rPr>
              <a:t>Game products</a:t>
            </a:r>
            <a:endParaRPr lang="en-US" sz="1500">
              <a:solidFill>
                <a:srgbClr val="111111"/>
              </a:solidFill>
              <a:latin typeface="Aptos"/>
            </a:endParaRPr>
          </a:p>
        </p:txBody>
      </p:sp>
      <p:sp>
        <p:nvSpPr>
          <p:cNvPr id="8" name="Text 8"/>
          <p:cNvSpPr txBox="1"/>
          <p:nvPr/>
        </p:nvSpPr>
        <p:spPr>
          <a:xfrm>
            <a:off x="1033271" y="4343400"/>
            <a:ext cx="2194560" cy="868680"/>
          </a:xfrm>
          <a:prstGeom prst="rect">
            <a:avLst/>
          </a:prstGeom>
          <a:noFill/>
          <a:ln>
            <a:noFill/>
          </a:ln>
        </p:spPr>
        <p:txBody>
          <a:bodyPr anchor="t" wrap="square"/>
          <a:lstStyle/>
          <a:p>
            <a:pPr algn="l"/>
            <a:r>
              <a:rPr lang="en-US" sz="1070" b="0">
                <a:solidFill>
                  <a:srgbClr val="5A616C"/>
                </a:solidFill>
                <a:latin typeface="Aptos"/>
              </a:rPr>
              <a:t>Online titles, digital tournaments, launch nights, AI-style game concepts.</a:t>
            </a:r>
            <a:endParaRPr lang="en-US" sz="1070">
              <a:solidFill>
                <a:srgbClr val="5A616C"/>
              </a:solidFill>
              <a:latin typeface="Aptos"/>
            </a:endParaRPr>
          </a:p>
        </p:txBody>
      </p:sp>
      <p:sp>
        <p:nvSpPr>
          <p:cNvPr id="9" name="Shape 9"/>
          <p:cNvSpPr/>
          <p:nvPr/>
        </p:nvSpPr>
        <p:spPr>
          <a:xfrm>
            <a:off x="3675887" y="3703320"/>
            <a:ext cx="2633472" cy="1874519"/>
          </a:xfrm>
          <a:prstGeom prst="roundRect">
            <a:avLst/>
          </a:prstGeom>
          <a:solidFill>
            <a:srgbClr val="F8E08A"/>
          </a:solidFill>
          <a:ln w="12700">
            <a:solidFill>
              <a:srgbClr val="D6CAB3"/>
            </a:solidFill>
          </a:ln>
        </p:spPr>
        <p:txBody>
          <a:bodyPr/>
          <a:lstStyle/>
          <a:p/>
        </p:txBody>
      </p:sp>
      <p:sp>
        <p:nvSpPr>
          <p:cNvPr id="10" name="Text 10"/>
          <p:cNvSpPr txBox="1"/>
          <p:nvPr/>
        </p:nvSpPr>
        <p:spPr>
          <a:xfrm>
            <a:off x="3840479" y="3913632"/>
            <a:ext cx="2103120" cy="320040"/>
          </a:xfrm>
          <a:prstGeom prst="rect">
            <a:avLst/>
          </a:prstGeom>
          <a:noFill/>
          <a:ln>
            <a:noFill/>
          </a:ln>
        </p:spPr>
        <p:txBody>
          <a:bodyPr anchor="t" wrap="square"/>
          <a:lstStyle/>
          <a:p>
            <a:pPr algn="l"/>
            <a:r>
              <a:rPr lang="en-US" sz="1500" b="1">
                <a:solidFill>
                  <a:srgbClr val="111111"/>
                </a:solidFill>
                <a:latin typeface="Aptos"/>
              </a:rPr>
              <a:t>Venue commerce</a:t>
            </a:r>
            <a:endParaRPr lang="en-US" sz="1500">
              <a:solidFill>
                <a:srgbClr val="111111"/>
              </a:solidFill>
              <a:latin typeface="Aptos"/>
            </a:endParaRPr>
          </a:p>
        </p:txBody>
      </p:sp>
      <p:sp>
        <p:nvSpPr>
          <p:cNvPr id="11" name="Text 11"/>
          <p:cNvSpPr txBox="1"/>
          <p:nvPr/>
        </p:nvSpPr>
        <p:spPr>
          <a:xfrm>
            <a:off x="3840479" y="4343400"/>
            <a:ext cx="2194560" cy="868680"/>
          </a:xfrm>
          <a:prstGeom prst="rect">
            <a:avLst/>
          </a:prstGeom>
          <a:noFill/>
          <a:ln>
            <a:noFill/>
          </a:ln>
        </p:spPr>
        <p:txBody>
          <a:bodyPr anchor="t" wrap="square"/>
          <a:lstStyle/>
          <a:p>
            <a:pPr algn="l"/>
            <a:r>
              <a:rPr lang="en-US" sz="1070" b="0">
                <a:solidFill>
                  <a:srgbClr val="5A616C"/>
                </a:solidFill>
                <a:latin typeface="Aptos"/>
              </a:rPr>
              <a:t>Bookings, parties, premium sessions, ticketing, and timed attractions.</a:t>
            </a:r>
            <a:endParaRPr lang="en-US" sz="1070">
              <a:solidFill>
                <a:srgbClr val="5A616C"/>
              </a:solidFill>
              <a:latin typeface="Aptos"/>
            </a:endParaRPr>
          </a:p>
        </p:txBody>
      </p:sp>
      <p:sp>
        <p:nvSpPr>
          <p:cNvPr id="12" name="Shape 12"/>
          <p:cNvSpPr/>
          <p:nvPr/>
        </p:nvSpPr>
        <p:spPr>
          <a:xfrm>
            <a:off x="6483096" y="3703320"/>
            <a:ext cx="2633472" cy="1874519"/>
          </a:xfrm>
          <a:prstGeom prst="roundRect">
            <a:avLst/>
          </a:prstGeom>
          <a:solidFill>
            <a:srgbClr val="FFFFFF"/>
          </a:solidFill>
          <a:ln w="12700">
            <a:solidFill>
              <a:srgbClr val="D6CAB3"/>
            </a:solidFill>
          </a:ln>
        </p:spPr>
        <p:txBody>
          <a:bodyPr/>
          <a:lstStyle/>
          <a:p/>
        </p:txBody>
      </p:sp>
      <p:sp>
        <p:nvSpPr>
          <p:cNvPr id="13" name="Text 13"/>
          <p:cNvSpPr txBox="1"/>
          <p:nvPr/>
        </p:nvSpPr>
        <p:spPr>
          <a:xfrm>
            <a:off x="6647688" y="3913632"/>
            <a:ext cx="2103120" cy="320040"/>
          </a:xfrm>
          <a:prstGeom prst="rect">
            <a:avLst/>
          </a:prstGeom>
          <a:noFill/>
          <a:ln>
            <a:noFill/>
          </a:ln>
        </p:spPr>
        <p:txBody>
          <a:bodyPr anchor="t" wrap="square"/>
          <a:lstStyle/>
          <a:p>
            <a:pPr algn="l"/>
            <a:r>
              <a:rPr lang="en-US" sz="1500" b="1">
                <a:solidFill>
                  <a:srgbClr val="111111"/>
                </a:solidFill>
                <a:latin typeface="Aptos"/>
              </a:rPr>
              <a:t>Community loops</a:t>
            </a:r>
            <a:endParaRPr lang="en-US" sz="1500">
              <a:solidFill>
                <a:srgbClr val="111111"/>
              </a:solidFill>
              <a:latin typeface="Aptos"/>
            </a:endParaRPr>
          </a:p>
        </p:txBody>
      </p:sp>
      <p:sp>
        <p:nvSpPr>
          <p:cNvPr id="14" name="Text 14"/>
          <p:cNvSpPr txBox="1"/>
          <p:nvPr/>
        </p:nvSpPr>
        <p:spPr>
          <a:xfrm>
            <a:off x="6647688" y="4343400"/>
            <a:ext cx="2194560" cy="868680"/>
          </a:xfrm>
          <a:prstGeom prst="rect">
            <a:avLst/>
          </a:prstGeom>
          <a:noFill/>
          <a:ln>
            <a:noFill/>
          </a:ln>
        </p:spPr>
        <p:txBody>
          <a:bodyPr anchor="t" wrap="square"/>
          <a:lstStyle/>
          <a:p>
            <a:pPr algn="l"/>
            <a:r>
              <a:rPr lang="en-US" sz="1070" b="0">
                <a:solidFill>
                  <a:srgbClr val="5A616C"/>
                </a:solidFill>
                <a:latin typeface="Aptos"/>
              </a:rPr>
              <a:t>Leagues, squads, loyalty, digital rewards, and recurring player identity.</a:t>
            </a:r>
            <a:endParaRPr lang="en-US" sz="1070">
              <a:solidFill>
                <a:srgbClr val="5A616C"/>
              </a:solidFill>
              <a:latin typeface="Aptos"/>
            </a:endParaRPr>
          </a:p>
        </p:txBody>
      </p:sp>
      <p:sp>
        <p:nvSpPr>
          <p:cNvPr id="15" name="Shape 15"/>
          <p:cNvSpPr/>
          <p:nvPr/>
        </p:nvSpPr>
        <p:spPr>
          <a:xfrm>
            <a:off x="9290304" y="3703320"/>
            <a:ext cx="2633472" cy="1874519"/>
          </a:xfrm>
          <a:prstGeom prst="roundRect">
            <a:avLst/>
          </a:prstGeom>
          <a:solidFill>
            <a:srgbClr val="FFFFFF"/>
          </a:solidFill>
          <a:ln w="12700">
            <a:solidFill>
              <a:srgbClr val="D6CAB3"/>
            </a:solidFill>
          </a:ln>
        </p:spPr>
        <p:txBody>
          <a:bodyPr/>
          <a:lstStyle/>
          <a:p/>
        </p:txBody>
      </p:sp>
      <p:sp>
        <p:nvSpPr>
          <p:cNvPr id="16" name="Text 16"/>
          <p:cNvSpPr txBox="1"/>
          <p:nvPr/>
        </p:nvSpPr>
        <p:spPr>
          <a:xfrm>
            <a:off x="9454896" y="3913632"/>
            <a:ext cx="2103120" cy="320040"/>
          </a:xfrm>
          <a:prstGeom prst="rect">
            <a:avLst/>
          </a:prstGeom>
          <a:noFill/>
          <a:ln>
            <a:noFill/>
          </a:ln>
        </p:spPr>
        <p:txBody>
          <a:bodyPr anchor="t" wrap="square"/>
          <a:lstStyle/>
          <a:p>
            <a:pPr algn="l"/>
            <a:r>
              <a:rPr lang="en-US" sz="1500" b="1">
                <a:solidFill>
                  <a:srgbClr val="111111"/>
                </a:solidFill>
                <a:latin typeface="Aptos"/>
              </a:rPr>
              <a:t>Brand extensions</a:t>
            </a:r>
            <a:endParaRPr lang="en-US" sz="1500">
              <a:solidFill>
                <a:srgbClr val="111111"/>
              </a:solidFill>
              <a:latin typeface="Aptos"/>
            </a:endParaRPr>
          </a:p>
        </p:txBody>
      </p:sp>
      <p:sp>
        <p:nvSpPr>
          <p:cNvPr id="17" name="Text 17"/>
          <p:cNvSpPr txBox="1"/>
          <p:nvPr/>
        </p:nvSpPr>
        <p:spPr>
          <a:xfrm>
            <a:off x="9454896" y="4343400"/>
            <a:ext cx="2194560" cy="868680"/>
          </a:xfrm>
          <a:prstGeom prst="rect">
            <a:avLst/>
          </a:prstGeom>
          <a:noFill/>
          <a:ln>
            <a:noFill/>
          </a:ln>
        </p:spPr>
        <p:txBody>
          <a:bodyPr anchor="t" wrap="square"/>
          <a:lstStyle/>
          <a:p>
            <a:pPr algn="l"/>
            <a:r>
              <a:rPr lang="en-US" sz="1070" b="0">
                <a:solidFill>
                  <a:srgbClr val="5A616C"/>
                </a:solidFill>
                <a:latin typeface="Aptos"/>
              </a:rPr>
              <a:t>Partnership activations, creator programs, and live seasonal content.</a:t>
            </a:r>
            <a:endParaRPr lang="en-US" sz="1070">
              <a:solidFill>
                <a:srgbClr val="5A616C"/>
              </a:solidFill>
              <a:latin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0B0D10"/>
          </a:solidFill>
          <a:ln>
            <a:noFill/>
          </a:ln>
        </p:spPr>
        <p:txBody>
          <a:bodyPr/>
          <a:lstStyle/>
          <a:p/>
        </p:txBody>
      </p:sp>
      <p:pic>
        <p:nvPicPr>
          <p:cNvPr id="3" name="Picture 3" descr="ubisoft.jpeg"/>
          <p:cNvPicPr>
            <a:picLocks noChangeAspect="1"/>
          </p:cNvPicPr>
          <p:nvPr/>
        </p:nvPicPr>
        <p:blipFill>
          <a:blip r:embed="rId2"/>
          <a:stretch>
            <a:fillRect/>
          </a:stretch>
        </p:blipFill>
        <p:spPr>
          <a:xfrm>
            <a:off x="658368" y="658368"/>
            <a:ext cx="3520440" cy="5486400"/>
          </a:xfrm>
          <a:prstGeom prst="roundRect">
            <a:avLst/>
          </a:prstGeom>
        </p:spPr>
      </p:pic>
      <p:sp>
        <p:nvSpPr>
          <p:cNvPr id="4" name="Shape 4"/>
          <p:cNvSpPr/>
          <p:nvPr/>
        </p:nvSpPr>
        <p:spPr>
          <a:xfrm>
            <a:off x="4434840" y="658368"/>
            <a:ext cx="7095744" cy="5486400"/>
          </a:xfrm>
          <a:prstGeom prst="roundRect">
            <a:avLst/>
          </a:prstGeom>
          <a:solidFill>
            <a:srgbClr val="16181D"/>
          </a:solidFill>
          <a:ln>
            <a:noFill/>
          </a:ln>
        </p:spPr>
        <p:txBody>
          <a:bodyPr/>
          <a:lstStyle/>
          <a:p/>
        </p:txBody>
      </p:sp>
      <p:sp>
        <p:nvSpPr>
          <p:cNvPr id="5" name="Text 5"/>
          <p:cNvSpPr txBox="1"/>
          <p:nvPr/>
        </p:nvSpPr>
        <p:spPr>
          <a:xfrm>
            <a:off x="4800600" y="960120"/>
            <a:ext cx="5669280" cy="438912"/>
          </a:xfrm>
          <a:prstGeom prst="rect">
            <a:avLst/>
          </a:prstGeom>
          <a:noFill/>
          <a:ln>
            <a:noFill/>
          </a:ln>
        </p:spPr>
        <p:txBody>
          <a:bodyPr anchor="t" wrap="square"/>
          <a:lstStyle/>
          <a:p>
            <a:pPr algn="l"/>
            <a:r>
              <a:rPr lang="en-US" sz="2500" b="1">
                <a:solidFill>
                  <a:srgbClr val="FFFFFF"/>
                </a:solidFill>
                <a:latin typeface="Georgia"/>
              </a:rPr>
              <a:t>Online games are not a side module.</a:t>
            </a:r>
            <a:endParaRPr lang="en-US" sz="2500">
              <a:solidFill>
                <a:srgbClr val="FFFFFF"/>
              </a:solidFill>
              <a:latin typeface="Georgia"/>
            </a:endParaRPr>
          </a:p>
        </p:txBody>
      </p:sp>
      <p:sp>
        <p:nvSpPr>
          <p:cNvPr id="6" name="Text 6"/>
          <p:cNvSpPr txBox="1"/>
          <p:nvPr/>
        </p:nvSpPr>
        <p:spPr>
          <a:xfrm>
            <a:off x="4800600" y="1664208"/>
            <a:ext cx="5669280" cy="731520"/>
          </a:xfrm>
          <a:prstGeom prst="rect">
            <a:avLst/>
          </a:prstGeom>
          <a:noFill/>
          <a:ln>
            <a:noFill/>
          </a:ln>
        </p:spPr>
        <p:txBody>
          <a:bodyPr anchor="t" wrap="square"/>
          <a:lstStyle/>
          <a:p>
            <a:pPr algn="l"/>
            <a:r>
              <a:rPr lang="en-US" sz="1230" b="0">
                <a:solidFill>
                  <a:srgbClr val="D5DBE3"/>
                </a:solidFill>
                <a:latin typeface="Aptos"/>
              </a:rPr>
              <a:t>The platform can support adaptive browser games, social competition, digital leagues, and venue-tied drops that keep the ecosystem alive between visits.</a:t>
            </a:r>
            <a:endParaRPr lang="en-US" sz="1230">
              <a:solidFill>
                <a:srgbClr val="D5DBE3"/>
              </a:solidFill>
              <a:latin typeface="Aptos"/>
            </a:endParaRPr>
          </a:p>
        </p:txBody>
      </p:sp>
      <p:sp>
        <p:nvSpPr>
          <p:cNvPr id="7" name="Shape 7"/>
          <p:cNvSpPr/>
          <p:nvPr/>
        </p:nvSpPr>
        <p:spPr>
          <a:xfrm>
            <a:off x="4800600" y="2743200"/>
            <a:ext cx="5852160" cy="640080"/>
          </a:xfrm>
          <a:prstGeom prst="roundRect">
            <a:avLst/>
          </a:prstGeom>
          <a:solidFill>
            <a:srgbClr val="151A22"/>
          </a:solidFill>
          <a:ln w="12700">
            <a:solidFill>
              <a:srgbClr val="2E3745"/>
            </a:solidFill>
          </a:ln>
        </p:spPr>
        <p:txBody>
          <a:bodyPr/>
          <a:lstStyle/>
          <a:p/>
        </p:txBody>
      </p:sp>
      <p:sp>
        <p:nvSpPr>
          <p:cNvPr id="8" name="Text 8"/>
          <p:cNvSpPr txBox="1"/>
          <p:nvPr/>
        </p:nvSpPr>
        <p:spPr>
          <a:xfrm>
            <a:off x="5029200" y="2889504"/>
            <a:ext cx="5303520" cy="274320"/>
          </a:xfrm>
          <a:prstGeom prst="rect">
            <a:avLst/>
          </a:prstGeom>
          <a:noFill/>
          <a:ln>
            <a:noFill/>
          </a:ln>
        </p:spPr>
        <p:txBody>
          <a:bodyPr anchor="t" wrap="square"/>
          <a:lstStyle/>
          <a:p>
            <a:pPr algn="l"/>
            <a:r>
              <a:rPr lang="en-US" sz="1300" b="1">
                <a:solidFill>
                  <a:srgbClr val="FFFFFF"/>
                </a:solidFill>
                <a:latin typeface="Aptos"/>
              </a:rPr>
              <a:t>Adaptive browser play</a:t>
            </a:r>
            <a:endParaRPr lang="en-US" sz="1300">
              <a:solidFill>
                <a:srgbClr val="FFFFFF"/>
              </a:solidFill>
              <a:latin typeface="Aptos"/>
            </a:endParaRPr>
          </a:p>
        </p:txBody>
      </p:sp>
      <p:sp>
        <p:nvSpPr>
          <p:cNvPr id="9" name="Shape 9"/>
          <p:cNvSpPr/>
          <p:nvPr/>
        </p:nvSpPr>
        <p:spPr>
          <a:xfrm>
            <a:off x="4800600" y="3566160"/>
            <a:ext cx="5852160" cy="640080"/>
          </a:xfrm>
          <a:prstGeom prst="roundRect">
            <a:avLst/>
          </a:prstGeom>
          <a:solidFill>
            <a:srgbClr val="151A22"/>
          </a:solidFill>
          <a:ln w="12700">
            <a:solidFill>
              <a:srgbClr val="2E3745"/>
            </a:solidFill>
          </a:ln>
        </p:spPr>
        <p:txBody>
          <a:bodyPr/>
          <a:lstStyle/>
          <a:p/>
        </p:txBody>
      </p:sp>
      <p:sp>
        <p:nvSpPr>
          <p:cNvPr id="10" name="Text 10"/>
          <p:cNvSpPr txBox="1"/>
          <p:nvPr/>
        </p:nvSpPr>
        <p:spPr>
          <a:xfrm>
            <a:off x="5029200" y="3712463"/>
            <a:ext cx="5303520" cy="274320"/>
          </a:xfrm>
          <a:prstGeom prst="rect">
            <a:avLst/>
          </a:prstGeom>
          <a:noFill/>
          <a:ln>
            <a:noFill/>
          </a:ln>
        </p:spPr>
        <p:txBody>
          <a:bodyPr anchor="t" wrap="square"/>
          <a:lstStyle/>
          <a:p>
            <a:pPr algn="l"/>
            <a:r>
              <a:rPr lang="en-US" sz="1300" b="1">
                <a:solidFill>
                  <a:srgbClr val="FFFFFF"/>
                </a:solidFill>
                <a:latin typeface="Aptos"/>
              </a:rPr>
              <a:t>Seasonal digital releases</a:t>
            </a:r>
            <a:endParaRPr lang="en-US" sz="1300">
              <a:solidFill>
                <a:srgbClr val="FFFFFF"/>
              </a:solidFill>
              <a:latin typeface="Aptos"/>
            </a:endParaRPr>
          </a:p>
        </p:txBody>
      </p:sp>
      <p:sp>
        <p:nvSpPr>
          <p:cNvPr id="11" name="Shape 11"/>
          <p:cNvSpPr/>
          <p:nvPr/>
        </p:nvSpPr>
        <p:spPr>
          <a:xfrm>
            <a:off x="4800600" y="4389120"/>
            <a:ext cx="5852160" cy="640080"/>
          </a:xfrm>
          <a:prstGeom prst="roundRect">
            <a:avLst/>
          </a:prstGeom>
          <a:solidFill>
            <a:srgbClr val="151A22"/>
          </a:solidFill>
          <a:ln w="12700">
            <a:solidFill>
              <a:srgbClr val="2E3745"/>
            </a:solidFill>
          </a:ln>
        </p:spPr>
        <p:txBody>
          <a:bodyPr/>
          <a:lstStyle/>
          <a:p/>
        </p:txBody>
      </p:sp>
      <p:sp>
        <p:nvSpPr>
          <p:cNvPr id="12" name="Text 12"/>
          <p:cNvSpPr txBox="1"/>
          <p:nvPr/>
        </p:nvSpPr>
        <p:spPr>
          <a:xfrm>
            <a:off x="5029200" y="4535424"/>
            <a:ext cx="5303520" cy="274320"/>
          </a:xfrm>
          <a:prstGeom prst="rect">
            <a:avLst/>
          </a:prstGeom>
          <a:noFill/>
          <a:ln>
            <a:noFill/>
          </a:ln>
        </p:spPr>
        <p:txBody>
          <a:bodyPr anchor="t" wrap="square"/>
          <a:lstStyle/>
          <a:p>
            <a:pPr algn="l"/>
            <a:r>
              <a:rPr lang="en-US" sz="1300" b="1">
                <a:solidFill>
                  <a:srgbClr val="FFFFFF"/>
                </a:solidFill>
                <a:latin typeface="Aptos"/>
              </a:rPr>
              <a:t>Game-linked memberships</a:t>
            </a:r>
            <a:endParaRPr lang="en-US" sz="1300">
              <a:solidFill>
                <a:srgbClr val="FFFFFF"/>
              </a:solidFill>
              <a:latin typeface="Aptos"/>
            </a:endParaRPr>
          </a:p>
        </p:txBody>
      </p:sp>
      <p:sp>
        <p:nvSpPr>
          <p:cNvPr id="13" name="Shape 13"/>
          <p:cNvSpPr/>
          <p:nvPr/>
        </p:nvSpPr>
        <p:spPr>
          <a:xfrm>
            <a:off x="4800600" y="5212080"/>
            <a:ext cx="5852160" cy="640080"/>
          </a:xfrm>
          <a:prstGeom prst="roundRect">
            <a:avLst/>
          </a:prstGeom>
          <a:solidFill>
            <a:srgbClr val="151A22"/>
          </a:solidFill>
          <a:ln w="12700">
            <a:solidFill>
              <a:srgbClr val="2E3745"/>
            </a:solidFill>
          </a:ln>
        </p:spPr>
        <p:txBody>
          <a:bodyPr/>
          <a:lstStyle/>
          <a:p/>
        </p:txBody>
      </p:sp>
      <p:sp>
        <p:nvSpPr>
          <p:cNvPr id="14" name="Text 14"/>
          <p:cNvSpPr txBox="1"/>
          <p:nvPr/>
        </p:nvSpPr>
        <p:spPr>
          <a:xfrm>
            <a:off x="5029200" y="5358384"/>
            <a:ext cx="5303520" cy="274320"/>
          </a:xfrm>
          <a:prstGeom prst="rect">
            <a:avLst/>
          </a:prstGeom>
          <a:noFill/>
          <a:ln>
            <a:noFill/>
          </a:ln>
        </p:spPr>
        <p:txBody>
          <a:bodyPr anchor="t" wrap="square"/>
          <a:lstStyle/>
          <a:p>
            <a:pPr algn="l"/>
            <a:r>
              <a:rPr lang="en-US" sz="1300" b="1">
                <a:solidFill>
                  <a:srgbClr val="FFFFFF"/>
                </a:solidFill>
                <a:latin typeface="Aptos"/>
              </a:rPr>
              <a:t>Play Game auth funnel</a:t>
            </a:r>
            <a:endParaRPr lang="en-US" sz="1300">
              <a:solidFill>
                <a:srgbClr val="FFFFFF"/>
              </a:solidFill>
              <a:latin typeface="Aptos"/>
            </a:endParaRPr>
          </a:p>
        </p:txBody>
      </p:sp>
      <p:sp>
        <p:nvSpPr>
          <p:cNvPr id="15" name="Text 15"/>
          <p:cNvSpPr txBox="1"/>
          <p:nvPr/>
        </p:nvSpPr>
        <p:spPr>
          <a:xfrm>
            <a:off x="4800600" y="5577840"/>
            <a:ext cx="2011680" cy="320040"/>
          </a:xfrm>
          <a:prstGeom prst="rect">
            <a:avLst/>
          </a:prstGeom>
          <a:noFill/>
          <a:ln>
            <a:noFill/>
          </a:ln>
        </p:spPr>
        <p:txBody>
          <a:bodyPr anchor="t" wrap="square"/>
          <a:lstStyle/>
          <a:p>
            <a:pPr algn="l"/>
            <a:r>
              <a:rPr lang="en-US" sz="1100" b="1" cap="all">
                <a:solidFill>
                  <a:srgbClr val="F5C242"/>
                </a:solidFill>
                <a:latin typeface="Aptos"/>
              </a:rPr>
              <a:t>Example titles</a:t>
            </a:r>
            <a:endParaRPr lang="en-US" sz="1100">
              <a:solidFill>
                <a:srgbClr val="F5C242"/>
              </a:solidFill>
              <a:latin typeface="Aptos"/>
            </a:endParaRPr>
          </a:p>
        </p:txBody>
      </p:sp>
      <p:sp>
        <p:nvSpPr>
          <p:cNvPr id="16" name="Text 16"/>
          <p:cNvSpPr txBox="1"/>
          <p:nvPr/>
        </p:nvSpPr>
        <p:spPr>
          <a:xfrm>
            <a:off x="6492240" y="5559552"/>
            <a:ext cx="3840480" cy="320040"/>
          </a:xfrm>
          <a:prstGeom prst="rect">
            <a:avLst/>
          </a:prstGeom>
          <a:noFill/>
          <a:ln>
            <a:noFill/>
          </a:ln>
        </p:spPr>
        <p:txBody>
          <a:bodyPr anchor="t" wrap="square"/>
          <a:lstStyle/>
          <a:p>
            <a:pPr algn="l"/>
            <a:r>
              <a:rPr lang="en-US" sz="1100" b="0">
                <a:solidFill>
                  <a:srgbClr val="D5DBE3"/>
                </a:solidFill>
                <a:latin typeface="Aptos"/>
              </a:rPr>
              <a:t>Neon Arena • Signal Chase • Pulse Circuit • Echo Room</a:t>
            </a:r>
            <a:endParaRPr lang="en-US" sz="1100">
              <a:solidFill>
                <a:srgbClr val="D5DBE3"/>
              </a:solidFill>
              <a:latin typeface="Apto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5C242"/>
          </a:solidFill>
          <a:ln>
            <a:noFill/>
          </a:ln>
        </p:spPr>
        <p:txBody>
          <a:bodyPr/>
          <a:lstStyle/>
          <a:p/>
        </p:txBody>
      </p:sp>
      <p:sp>
        <p:nvSpPr>
          <p:cNvPr id="3" name="Shape 3"/>
          <p:cNvSpPr/>
          <p:nvPr/>
        </p:nvSpPr>
        <p:spPr>
          <a:xfrm>
            <a:off x="777240" y="685800"/>
            <a:ext cx="3840480" cy="5486400"/>
          </a:xfrm>
          <a:prstGeom prst="roundRect">
            <a:avLst/>
          </a:prstGeom>
          <a:solidFill>
            <a:srgbClr val="16181D"/>
          </a:solidFill>
          <a:ln>
            <a:noFill/>
          </a:ln>
        </p:spPr>
        <p:txBody>
          <a:bodyPr/>
          <a:lstStyle/>
          <a:p/>
        </p:txBody>
      </p:sp>
      <p:sp>
        <p:nvSpPr>
          <p:cNvPr id="4" name="Text 4"/>
          <p:cNvSpPr txBox="1"/>
          <p:nvPr/>
        </p:nvSpPr>
        <p:spPr>
          <a:xfrm>
            <a:off x="1097280" y="1005840"/>
            <a:ext cx="3017520" cy="365760"/>
          </a:xfrm>
          <a:prstGeom prst="rect">
            <a:avLst/>
          </a:prstGeom>
          <a:noFill/>
          <a:ln>
            <a:noFill/>
          </a:ln>
        </p:spPr>
        <p:txBody>
          <a:bodyPr anchor="t" wrap="square"/>
          <a:lstStyle/>
          <a:p>
            <a:pPr algn="l"/>
            <a:r>
              <a:rPr lang="en-US" sz="1200" b="1" cap="all">
                <a:solidFill>
                  <a:srgbClr val="F5C242"/>
                </a:solidFill>
                <a:latin typeface="Aptos"/>
              </a:rPr>
              <a:t>Sports + recreation</a:t>
            </a:r>
            <a:endParaRPr lang="en-US" sz="1200">
              <a:solidFill>
                <a:srgbClr val="F5C242"/>
              </a:solidFill>
              <a:latin typeface="Aptos"/>
            </a:endParaRPr>
          </a:p>
        </p:txBody>
      </p:sp>
      <p:sp>
        <p:nvSpPr>
          <p:cNvPr id="5" name="Text 5"/>
          <p:cNvSpPr txBox="1"/>
          <p:nvPr/>
        </p:nvSpPr>
        <p:spPr>
          <a:xfrm>
            <a:off x="1097280" y="1481328"/>
            <a:ext cx="3017520" cy="1325880"/>
          </a:xfrm>
          <a:prstGeom prst="rect">
            <a:avLst/>
          </a:prstGeom>
          <a:noFill/>
          <a:ln>
            <a:noFill/>
          </a:ln>
        </p:spPr>
        <p:txBody>
          <a:bodyPr anchor="t" wrap="square"/>
          <a:lstStyle/>
          <a:p>
            <a:pPr algn="l"/>
            <a:r>
              <a:rPr lang="en-US" sz="2500" b="1">
                <a:solidFill>
                  <a:srgbClr val="FFFFFF"/>
                </a:solidFill>
                <a:latin typeface="Georgia"/>
              </a:rPr>
              <a:t>A real system for leagues, courts, sessions, and repeat access.</a:t>
            </a:r>
            <a:endParaRPr lang="en-US" sz="2500">
              <a:solidFill>
                <a:srgbClr val="FFFFFF"/>
              </a:solidFill>
              <a:latin typeface="Georgia"/>
            </a:endParaRPr>
          </a:p>
        </p:txBody>
      </p:sp>
      <p:sp>
        <p:nvSpPr>
          <p:cNvPr id="6" name="Text 6"/>
          <p:cNvSpPr txBox="1"/>
          <p:nvPr/>
        </p:nvSpPr>
        <p:spPr>
          <a:xfrm>
            <a:off x="1097280" y="3154680"/>
            <a:ext cx="2926080" cy="1005840"/>
          </a:xfrm>
          <a:prstGeom prst="rect">
            <a:avLst/>
          </a:prstGeom>
          <a:noFill/>
          <a:ln>
            <a:noFill/>
          </a:ln>
        </p:spPr>
        <p:txBody>
          <a:bodyPr anchor="t" wrap="square"/>
          <a:lstStyle/>
          <a:p>
            <a:pPr algn="l"/>
            <a:r>
              <a:rPr lang="en-US" sz="1220" b="0">
                <a:solidFill>
                  <a:srgbClr val="D5DBE3"/>
                </a:solidFill>
                <a:latin typeface="Aptos"/>
              </a:rPr>
              <a:t>The same platform can handle registrations, passes, schedules, tournaments, and live programming across sports and recreation models.</a:t>
            </a:r>
            <a:endParaRPr lang="en-US" sz="1220">
              <a:solidFill>
                <a:srgbClr val="D5DBE3"/>
              </a:solidFill>
              <a:latin typeface="Aptos"/>
            </a:endParaRPr>
          </a:p>
        </p:txBody>
      </p:sp>
      <p:pic>
        <p:nvPicPr>
          <p:cNvPr id="7" name="Picture 7" descr="cntower.jpeg"/>
          <p:cNvPicPr>
            <a:picLocks noChangeAspect="1"/>
          </p:cNvPicPr>
          <p:nvPr/>
        </p:nvPicPr>
        <p:blipFill>
          <a:blip r:embed="rId2"/>
          <a:stretch>
            <a:fillRect/>
          </a:stretch>
        </p:blipFill>
        <p:spPr>
          <a:xfrm>
            <a:off x="4892040" y="685800"/>
            <a:ext cx="6492240" cy="2788920"/>
          </a:xfrm>
          <a:prstGeom prst="roundRect">
            <a:avLst/>
          </a:prstGeom>
        </p:spPr>
      </p:pic>
      <p:sp>
        <p:nvSpPr>
          <p:cNvPr id="8" name="Shape 8"/>
          <p:cNvSpPr/>
          <p:nvPr/>
        </p:nvSpPr>
        <p:spPr>
          <a:xfrm>
            <a:off x="4892040" y="3858768"/>
            <a:ext cx="2240280" cy="1755648"/>
          </a:xfrm>
          <a:prstGeom prst="roundRect">
            <a:avLst/>
          </a:prstGeom>
          <a:solidFill>
            <a:srgbClr val="FFF7E0"/>
          </a:solidFill>
          <a:ln>
            <a:noFill/>
          </a:ln>
        </p:spPr>
        <p:txBody>
          <a:bodyPr/>
          <a:lstStyle/>
          <a:p/>
        </p:txBody>
      </p:sp>
      <p:sp>
        <p:nvSpPr>
          <p:cNvPr id="9" name="Text 9"/>
          <p:cNvSpPr txBox="1"/>
          <p:nvPr/>
        </p:nvSpPr>
        <p:spPr>
          <a:xfrm>
            <a:off x="5038344" y="4059936"/>
            <a:ext cx="1828800" cy="292608"/>
          </a:xfrm>
          <a:prstGeom prst="rect">
            <a:avLst/>
          </a:prstGeom>
          <a:noFill/>
          <a:ln>
            <a:noFill/>
          </a:ln>
        </p:spPr>
        <p:txBody>
          <a:bodyPr anchor="t" wrap="square"/>
          <a:lstStyle/>
          <a:p>
            <a:pPr algn="l"/>
            <a:r>
              <a:rPr lang="en-US" sz="1400" b="1">
                <a:solidFill>
                  <a:srgbClr val="111111"/>
                </a:solidFill>
                <a:latin typeface="Aptos"/>
              </a:rPr>
              <a:t>League scheduling</a:t>
            </a:r>
            <a:endParaRPr lang="en-US" sz="1400">
              <a:solidFill>
                <a:srgbClr val="111111"/>
              </a:solidFill>
              <a:latin typeface="Aptos"/>
            </a:endParaRPr>
          </a:p>
        </p:txBody>
      </p:sp>
      <p:sp>
        <p:nvSpPr>
          <p:cNvPr id="10" name="Text 10"/>
          <p:cNvSpPr txBox="1"/>
          <p:nvPr/>
        </p:nvSpPr>
        <p:spPr>
          <a:xfrm>
            <a:off x="5038344" y="4443984"/>
            <a:ext cx="1828800" cy="777240"/>
          </a:xfrm>
          <a:prstGeom prst="rect">
            <a:avLst/>
          </a:prstGeom>
          <a:noFill/>
          <a:ln>
            <a:noFill/>
          </a:ln>
        </p:spPr>
        <p:txBody>
          <a:bodyPr anchor="t" wrap="square"/>
          <a:lstStyle/>
          <a:p>
            <a:pPr algn="l"/>
            <a:r>
              <a:rPr lang="en-US" sz="1060" b="0">
                <a:solidFill>
                  <a:srgbClr val="4E4A42"/>
                </a:solidFill>
                <a:latin typeface="Aptos"/>
              </a:rPr>
              <a:t>Fixtures, brackets, recurring sessions, and event timing.</a:t>
            </a:r>
            <a:endParaRPr lang="en-US" sz="1060">
              <a:solidFill>
                <a:srgbClr val="4E4A42"/>
              </a:solidFill>
              <a:latin typeface="Aptos"/>
            </a:endParaRPr>
          </a:p>
        </p:txBody>
      </p:sp>
      <p:sp>
        <p:nvSpPr>
          <p:cNvPr id="11" name="Shape 11"/>
          <p:cNvSpPr/>
          <p:nvPr/>
        </p:nvSpPr>
        <p:spPr>
          <a:xfrm>
            <a:off x="7315200" y="3858768"/>
            <a:ext cx="2240280" cy="1755648"/>
          </a:xfrm>
          <a:prstGeom prst="roundRect">
            <a:avLst/>
          </a:prstGeom>
          <a:solidFill>
            <a:srgbClr val="F2E7BF"/>
          </a:solidFill>
          <a:ln>
            <a:noFill/>
          </a:ln>
        </p:spPr>
        <p:txBody>
          <a:bodyPr/>
          <a:lstStyle/>
          <a:p/>
        </p:txBody>
      </p:sp>
      <p:sp>
        <p:nvSpPr>
          <p:cNvPr id="12" name="Text 12"/>
          <p:cNvSpPr txBox="1"/>
          <p:nvPr/>
        </p:nvSpPr>
        <p:spPr>
          <a:xfrm>
            <a:off x="7461504" y="4059936"/>
            <a:ext cx="1828800" cy="292608"/>
          </a:xfrm>
          <a:prstGeom prst="rect">
            <a:avLst/>
          </a:prstGeom>
          <a:noFill/>
          <a:ln>
            <a:noFill/>
          </a:ln>
        </p:spPr>
        <p:txBody>
          <a:bodyPr anchor="t" wrap="square"/>
          <a:lstStyle/>
          <a:p>
            <a:pPr algn="l"/>
            <a:r>
              <a:rPr lang="en-US" sz="1400" b="1">
                <a:solidFill>
                  <a:srgbClr val="111111"/>
                </a:solidFill>
                <a:latin typeface="Aptos"/>
              </a:rPr>
              <a:t>Membership bundles</a:t>
            </a:r>
            <a:endParaRPr lang="en-US" sz="1400">
              <a:solidFill>
                <a:srgbClr val="111111"/>
              </a:solidFill>
              <a:latin typeface="Aptos"/>
            </a:endParaRPr>
          </a:p>
        </p:txBody>
      </p:sp>
      <p:sp>
        <p:nvSpPr>
          <p:cNvPr id="13" name="Text 13"/>
          <p:cNvSpPr txBox="1"/>
          <p:nvPr/>
        </p:nvSpPr>
        <p:spPr>
          <a:xfrm>
            <a:off x="7461504" y="4443984"/>
            <a:ext cx="1828800" cy="777240"/>
          </a:xfrm>
          <a:prstGeom prst="rect">
            <a:avLst/>
          </a:prstGeom>
          <a:noFill/>
          <a:ln>
            <a:noFill/>
          </a:ln>
        </p:spPr>
        <p:txBody>
          <a:bodyPr anchor="t" wrap="square"/>
          <a:lstStyle/>
          <a:p>
            <a:pPr algn="l"/>
            <a:r>
              <a:rPr lang="en-US" sz="1060" b="0">
                <a:solidFill>
                  <a:srgbClr val="4E4A42"/>
                </a:solidFill>
                <a:latin typeface="Aptos"/>
              </a:rPr>
              <a:t>Family plans, drop-ins, season passes, and premium access.</a:t>
            </a:r>
            <a:endParaRPr lang="en-US" sz="1060">
              <a:solidFill>
                <a:srgbClr val="4E4A42"/>
              </a:solidFill>
              <a:latin typeface="Aptos"/>
            </a:endParaRPr>
          </a:p>
        </p:txBody>
      </p:sp>
      <p:sp>
        <p:nvSpPr>
          <p:cNvPr id="14" name="Shape 14"/>
          <p:cNvSpPr/>
          <p:nvPr/>
        </p:nvSpPr>
        <p:spPr>
          <a:xfrm>
            <a:off x="9738360" y="3858768"/>
            <a:ext cx="2240280" cy="1755648"/>
          </a:xfrm>
          <a:prstGeom prst="roundRect">
            <a:avLst/>
          </a:prstGeom>
          <a:solidFill>
            <a:srgbClr val="F8E08A"/>
          </a:solidFill>
          <a:ln>
            <a:noFill/>
          </a:ln>
        </p:spPr>
        <p:txBody>
          <a:bodyPr/>
          <a:lstStyle/>
          <a:p/>
        </p:txBody>
      </p:sp>
      <p:sp>
        <p:nvSpPr>
          <p:cNvPr id="15" name="Text 15"/>
          <p:cNvSpPr txBox="1"/>
          <p:nvPr/>
        </p:nvSpPr>
        <p:spPr>
          <a:xfrm>
            <a:off x="9884664" y="4059936"/>
            <a:ext cx="1828800" cy="292608"/>
          </a:xfrm>
          <a:prstGeom prst="rect">
            <a:avLst/>
          </a:prstGeom>
          <a:noFill/>
          <a:ln>
            <a:noFill/>
          </a:ln>
        </p:spPr>
        <p:txBody>
          <a:bodyPr anchor="t" wrap="square"/>
          <a:lstStyle/>
          <a:p>
            <a:pPr algn="l"/>
            <a:r>
              <a:rPr lang="en-US" sz="1400" b="1">
                <a:solidFill>
                  <a:srgbClr val="111111"/>
                </a:solidFill>
                <a:latin typeface="Aptos"/>
              </a:rPr>
              <a:t>Venue utilization</a:t>
            </a:r>
            <a:endParaRPr lang="en-US" sz="1400">
              <a:solidFill>
                <a:srgbClr val="111111"/>
              </a:solidFill>
              <a:latin typeface="Aptos"/>
            </a:endParaRPr>
          </a:p>
        </p:txBody>
      </p:sp>
      <p:sp>
        <p:nvSpPr>
          <p:cNvPr id="16" name="Text 16"/>
          <p:cNvSpPr txBox="1"/>
          <p:nvPr/>
        </p:nvSpPr>
        <p:spPr>
          <a:xfrm>
            <a:off x="9884664" y="4443984"/>
            <a:ext cx="1828800" cy="777240"/>
          </a:xfrm>
          <a:prstGeom prst="rect">
            <a:avLst/>
          </a:prstGeom>
          <a:noFill/>
          <a:ln>
            <a:noFill/>
          </a:ln>
        </p:spPr>
        <p:txBody>
          <a:bodyPr anchor="t" wrap="square"/>
          <a:lstStyle/>
          <a:p>
            <a:pPr algn="l"/>
            <a:r>
              <a:rPr lang="en-US" sz="1060" b="0">
                <a:solidFill>
                  <a:srgbClr val="4E4A42"/>
                </a:solidFill>
                <a:latin typeface="Aptos"/>
              </a:rPr>
              <a:t>Fill off-peak time with structured blocks and social play.</a:t>
            </a:r>
            <a:endParaRPr lang="en-US" sz="1060">
              <a:solidFill>
                <a:srgbClr val="4E4A42"/>
              </a:solidFill>
              <a:latin typeface="Apto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FF9F0"/>
          </a:solidFill>
          <a:ln>
            <a:noFill/>
          </a:ln>
        </p:spPr>
        <p:txBody>
          <a:bodyPr/>
          <a:lstStyle/>
          <a:p/>
        </p:txBody>
      </p:sp>
      <p:sp>
        <p:nvSpPr>
          <p:cNvPr id="3" name="Shape 3"/>
          <p:cNvSpPr/>
          <p:nvPr/>
        </p:nvSpPr>
        <p:spPr>
          <a:xfrm>
            <a:off x="640080" y="685800"/>
            <a:ext cx="10972800" cy="5486400"/>
          </a:xfrm>
          <a:prstGeom prst="roundRect">
            <a:avLst/>
          </a:prstGeom>
          <a:solidFill>
            <a:srgbClr val="F6F0E5"/>
          </a:solidFill>
          <a:ln>
            <a:noFill/>
          </a:ln>
        </p:spPr>
        <p:txBody>
          <a:bodyPr/>
          <a:lstStyle/>
          <a:p/>
        </p:txBody>
      </p:sp>
      <p:sp>
        <p:nvSpPr>
          <p:cNvPr id="4" name="Text 4"/>
          <p:cNvSpPr txBox="1"/>
          <p:nvPr/>
        </p:nvSpPr>
        <p:spPr>
          <a:xfrm>
            <a:off x="896112" y="960120"/>
            <a:ext cx="5120640" cy="502920"/>
          </a:xfrm>
          <a:prstGeom prst="rect">
            <a:avLst/>
          </a:prstGeom>
          <a:noFill/>
          <a:ln>
            <a:noFill/>
          </a:ln>
        </p:spPr>
        <p:txBody>
          <a:bodyPr anchor="t" wrap="square"/>
          <a:lstStyle/>
          <a:p>
            <a:pPr algn="l"/>
            <a:r>
              <a:rPr lang="en-US" sz="2500" b="1">
                <a:solidFill>
                  <a:srgbClr val="111111"/>
                </a:solidFill>
                <a:latin typeface="Georgia"/>
              </a:rPr>
              <a:t>AR / VR can sit inside the same operating stack.</a:t>
            </a:r>
            <a:endParaRPr lang="en-US" sz="2500">
              <a:solidFill>
                <a:srgbClr val="111111"/>
              </a:solidFill>
              <a:latin typeface="Georgia"/>
            </a:endParaRPr>
          </a:p>
        </p:txBody>
      </p:sp>
      <p:sp>
        <p:nvSpPr>
          <p:cNvPr id="5" name="Text 5"/>
          <p:cNvSpPr txBox="1"/>
          <p:nvPr/>
        </p:nvSpPr>
        <p:spPr>
          <a:xfrm>
            <a:off x="896112" y="1691640"/>
            <a:ext cx="5029200" cy="685800"/>
          </a:xfrm>
          <a:prstGeom prst="rect">
            <a:avLst/>
          </a:prstGeom>
          <a:noFill/>
          <a:ln>
            <a:noFill/>
          </a:ln>
        </p:spPr>
        <p:txBody>
          <a:bodyPr anchor="t" wrap="square"/>
          <a:lstStyle/>
          <a:p>
            <a:pPr algn="l"/>
            <a:r>
              <a:rPr lang="en-US" sz="1220" b="0">
                <a:solidFill>
                  <a:srgbClr val="5A616C"/>
                </a:solidFill>
                <a:latin typeface="Aptos"/>
              </a:rPr>
              <a:t>Immersive rooms, activations, branded experiments, and mixed-reality experiences still need the same foundations: scheduling, identity, pricing, and content control.</a:t>
            </a:r>
            <a:endParaRPr lang="en-US" sz="1220">
              <a:solidFill>
                <a:srgbClr val="5A616C"/>
              </a:solidFill>
              <a:latin typeface="Aptos"/>
            </a:endParaRPr>
          </a:p>
        </p:txBody>
      </p:sp>
      <p:pic>
        <p:nvPicPr>
          <p:cNvPr id="6" name="Picture 6" descr="cineplex.png"/>
          <p:cNvPicPr>
            <a:picLocks noChangeAspect="1"/>
          </p:cNvPicPr>
          <p:nvPr/>
        </p:nvPicPr>
        <p:blipFill>
          <a:blip r:embed="rId2"/>
          <a:stretch>
            <a:fillRect/>
          </a:stretch>
        </p:blipFill>
        <p:spPr>
          <a:xfrm>
            <a:off x="6537960" y="914400"/>
            <a:ext cx="4572000" cy="2286000"/>
          </a:xfrm>
          <a:prstGeom prst="roundRect">
            <a:avLst/>
          </a:prstGeom>
        </p:spPr>
      </p:pic>
      <p:sp>
        <p:nvSpPr>
          <p:cNvPr id="7" name="Shape 7"/>
          <p:cNvSpPr/>
          <p:nvPr/>
        </p:nvSpPr>
        <p:spPr>
          <a:xfrm>
            <a:off x="914400" y="2880360"/>
            <a:ext cx="10149840" cy="109728"/>
          </a:xfrm>
          <a:prstGeom prst="rect">
            <a:avLst/>
          </a:prstGeom>
          <a:solidFill>
            <a:srgbClr val="3C7DFF"/>
          </a:solidFill>
          <a:ln>
            <a:noFill/>
          </a:ln>
        </p:spPr>
        <p:txBody>
          <a:bodyPr/>
          <a:lstStyle/>
          <a:p/>
        </p:txBody>
      </p:sp>
      <p:sp>
        <p:nvSpPr>
          <p:cNvPr id="8" name="Text 8"/>
          <p:cNvSpPr txBox="1"/>
          <p:nvPr/>
        </p:nvSpPr>
        <p:spPr>
          <a:xfrm>
            <a:off x="914400" y="3154680"/>
            <a:ext cx="1828800" cy="320040"/>
          </a:xfrm>
          <a:prstGeom prst="rect">
            <a:avLst/>
          </a:prstGeom>
          <a:noFill/>
          <a:ln>
            <a:noFill/>
          </a:ln>
        </p:spPr>
        <p:txBody>
          <a:bodyPr anchor="t" wrap="square"/>
          <a:lstStyle/>
          <a:p>
            <a:pPr algn="l"/>
            <a:r>
              <a:rPr lang="en-US" sz="1350" b="1">
                <a:solidFill>
                  <a:srgbClr val="111111"/>
                </a:solidFill>
                <a:latin typeface="Aptos"/>
              </a:rPr>
              <a:t>Session timing</a:t>
            </a:r>
            <a:endParaRPr lang="en-US" sz="1350">
              <a:solidFill>
                <a:srgbClr val="111111"/>
              </a:solidFill>
              <a:latin typeface="Aptos"/>
            </a:endParaRPr>
          </a:p>
        </p:txBody>
      </p:sp>
      <p:sp>
        <p:nvSpPr>
          <p:cNvPr id="9" name="Text 9"/>
          <p:cNvSpPr txBox="1"/>
          <p:nvPr/>
        </p:nvSpPr>
        <p:spPr>
          <a:xfrm>
            <a:off x="3383280" y="3154680"/>
            <a:ext cx="1828800" cy="320040"/>
          </a:xfrm>
          <a:prstGeom prst="rect">
            <a:avLst/>
          </a:prstGeom>
          <a:noFill/>
          <a:ln>
            <a:noFill/>
          </a:ln>
        </p:spPr>
        <p:txBody>
          <a:bodyPr anchor="t" wrap="square"/>
          <a:lstStyle/>
          <a:p>
            <a:pPr algn="l"/>
            <a:r>
              <a:rPr lang="en-US" sz="1350" b="1">
                <a:solidFill>
                  <a:srgbClr val="111111"/>
                </a:solidFill>
                <a:latin typeface="Aptos"/>
              </a:rPr>
              <a:t>Queue logic</a:t>
            </a:r>
            <a:endParaRPr lang="en-US" sz="1350">
              <a:solidFill>
                <a:srgbClr val="111111"/>
              </a:solidFill>
              <a:latin typeface="Aptos"/>
            </a:endParaRPr>
          </a:p>
        </p:txBody>
      </p:sp>
      <p:sp>
        <p:nvSpPr>
          <p:cNvPr id="10" name="Text 10"/>
          <p:cNvSpPr txBox="1"/>
          <p:nvPr/>
        </p:nvSpPr>
        <p:spPr>
          <a:xfrm>
            <a:off x="5852160" y="3154680"/>
            <a:ext cx="1828800" cy="320040"/>
          </a:xfrm>
          <a:prstGeom prst="rect">
            <a:avLst/>
          </a:prstGeom>
          <a:noFill/>
          <a:ln>
            <a:noFill/>
          </a:ln>
        </p:spPr>
        <p:txBody>
          <a:bodyPr anchor="t" wrap="square"/>
          <a:lstStyle/>
          <a:p>
            <a:pPr algn="l"/>
            <a:r>
              <a:rPr lang="en-US" sz="1350" b="1">
                <a:solidFill>
                  <a:srgbClr val="111111"/>
                </a:solidFill>
                <a:latin typeface="Aptos"/>
              </a:rPr>
              <a:t>Event packaging</a:t>
            </a:r>
            <a:endParaRPr lang="en-US" sz="1350">
              <a:solidFill>
                <a:srgbClr val="111111"/>
              </a:solidFill>
              <a:latin typeface="Aptos"/>
            </a:endParaRPr>
          </a:p>
        </p:txBody>
      </p:sp>
      <p:sp>
        <p:nvSpPr>
          <p:cNvPr id="11" name="Text 11"/>
          <p:cNvSpPr txBox="1"/>
          <p:nvPr/>
        </p:nvSpPr>
        <p:spPr>
          <a:xfrm>
            <a:off x="8321040" y="3154680"/>
            <a:ext cx="1828800" cy="320040"/>
          </a:xfrm>
          <a:prstGeom prst="rect">
            <a:avLst/>
          </a:prstGeom>
          <a:noFill/>
          <a:ln>
            <a:noFill/>
          </a:ln>
        </p:spPr>
        <p:txBody>
          <a:bodyPr anchor="t" wrap="square"/>
          <a:lstStyle/>
          <a:p>
            <a:pPr algn="l"/>
            <a:r>
              <a:rPr lang="en-US" sz="1350" b="1">
                <a:solidFill>
                  <a:srgbClr val="111111"/>
                </a:solidFill>
                <a:latin typeface="Aptos"/>
              </a:rPr>
              <a:t>Guest identity</a:t>
            </a:r>
            <a:endParaRPr lang="en-US" sz="1350">
              <a:solidFill>
                <a:srgbClr val="111111"/>
              </a:solidFill>
              <a:latin typeface="Aptos"/>
            </a:endParaRPr>
          </a:p>
        </p:txBody>
      </p:sp>
      <p:sp>
        <p:nvSpPr>
          <p:cNvPr id="12" name="Text 12"/>
          <p:cNvSpPr txBox="1"/>
          <p:nvPr/>
        </p:nvSpPr>
        <p:spPr>
          <a:xfrm>
            <a:off x="914400" y="3794760"/>
            <a:ext cx="9875520" cy="1097280"/>
          </a:xfrm>
          <a:prstGeom prst="rect">
            <a:avLst/>
          </a:prstGeom>
          <a:noFill/>
          <a:ln>
            <a:noFill/>
          </a:ln>
        </p:spPr>
        <p:txBody>
          <a:bodyPr anchor="t" wrap="square"/>
          <a:lstStyle/>
          <a:p>
            <a:pPr algn="l"/>
            <a:r>
              <a:rPr lang="en-US" sz="1800" b="1">
                <a:solidFill>
                  <a:srgbClr val="3A4350"/>
                </a:solidFill>
                <a:latin typeface="Aptos"/>
              </a:rPr>
              <a:t>The value is not only the attraction itself. The value is the ability to package it with the rest of the business and make it visible across the digital front door.</a:t>
            </a:r>
            <a:endParaRPr lang="en-US" sz="1800">
              <a:solidFill>
                <a:srgbClr val="3A4350"/>
              </a:solidFill>
              <a:latin typeface="Apto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16181D"/>
          </a:solidFill>
          <a:ln>
            <a:noFill/>
          </a:ln>
        </p:spPr>
        <p:txBody>
          <a:bodyPr/>
          <a:lstStyle/>
          <a:p/>
        </p:txBody>
      </p:sp>
      <p:sp>
        <p:nvSpPr>
          <p:cNvPr id="3" name="Shape 3"/>
          <p:cNvSpPr/>
          <p:nvPr/>
        </p:nvSpPr>
        <p:spPr>
          <a:xfrm>
            <a:off x="731520" y="731520"/>
            <a:ext cx="10972800" cy="5394960"/>
          </a:xfrm>
          <a:prstGeom prst="roundRect">
            <a:avLst/>
          </a:prstGeom>
          <a:solidFill>
            <a:srgbClr val="11151B"/>
          </a:solidFill>
          <a:ln>
            <a:noFill/>
          </a:ln>
        </p:spPr>
        <p:txBody>
          <a:bodyPr/>
          <a:lstStyle/>
          <a:p/>
        </p:txBody>
      </p:sp>
      <p:sp>
        <p:nvSpPr>
          <p:cNvPr id="4" name="Text 4"/>
          <p:cNvSpPr txBox="1"/>
          <p:nvPr/>
        </p:nvSpPr>
        <p:spPr>
          <a:xfrm>
            <a:off x="1005840" y="1005840"/>
            <a:ext cx="4937760" cy="438912"/>
          </a:xfrm>
          <a:prstGeom prst="rect">
            <a:avLst/>
          </a:prstGeom>
          <a:noFill/>
          <a:ln>
            <a:noFill/>
          </a:ln>
        </p:spPr>
        <p:txBody>
          <a:bodyPr anchor="t" wrap="square"/>
          <a:lstStyle/>
          <a:p>
            <a:pPr algn="l"/>
            <a:r>
              <a:rPr lang="en-US" sz="2500" b="1">
                <a:solidFill>
                  <a:srgbClr val="FFFFFF"/>
                </a:solidFill>
                <a:latin typeface="Georgia"/>
              </a:rPr>
              <a:t>In-house game development belongs inside the brand system.</a:t>
            </a:r>
            <a:endParaRPr lang="en-US" sz="2500">
              <a:solidFill>
                <a:srgbClr val="FFFFFF"/>
              </a:solidFill>
              <a:latin typeface="Georgia"/>
            </a:endParaRPr>
          </a:p>
        </p:txBody>
      </p:sp>
      <p:sp>
        <p:nvSpPr>
          <p:cNvPr id="5" name="Text 5"/>
          <p:cNvSpPr txBox="1"/>
          <p:nvPr/>
        </p:nvSpPr>
        <p:spPr>
          <a:xfrm>
            <a:off x="1005840" y="1691640"/>
            <a:ext cx="4937760" cy="731520"/>
          </a:xfrm>
          <a:prstGeom prst="rect">
            <a:avLst/>
          </a:prstGeom>
          <a:noFill/>
          <a:ln>
            <a:noFill/>
          </a:ln>
        </p:spPr>
        <p:txBody>
          <a:bodyPr anchor="t" wrap="square"/>
          <a:lstStyle/>
          <a:p>
            <a:pPr algn="l"/>
            <a:r>
              <a:rPr lang="en-US" sz="1210" b="0">
                <a:solidFill>
                  <a:srgbClr val="D5DBE3"/>
                </a:solidFill>
                <a:latin typeface="Aptos"/>
              </a:rPr>
              <a:t>Recroom Games is not only operating venues. It can also originate digital products, test them with real audiences, and turn the venue into a launch channel.</a:t>
            </a:r>
            <a:endParaRPr lang="en-US" sz="1210">
              <a:solidFill>
                <a:srgbClr val="D5DBE3"/>
              </a:solidFill>
              <a:latin typeface="Aptos"/>
            </a:endParaRPr>
          </a:p>
        </p:txBody>
      </p:sp>
      <p:pic>
        <p:nvPicPr>
          <p:cNvPr id="6" name="Picture 6" descr="ubisoft.jpeg"/>
          <p:cNvPicPr>
            <a:picLocks noChangeAspect="1"/>
          </p:cNvPicPr>
          <p:nvPr/>
        </p:nvPicPr>
        <p:blipFill>
          <a:blip r:embed="rId2"/>
          <a:stretch>
            <a:fillRect/>
          </a:stretch>
        </p:blipFill>
        <p:spPr>
          <a:xfrm>
            <a:off x="6903720" y="960120"/>
            <a:ext cx="4297680" cy="4434840"/>
          </a:xfrm>
          <a:prstGeom prst="roundRect">
            <a:avLst/>
          </a:prstGeom>
        </p:spPr>
      </p:pic>
      <p:sp>
        <p:nvSpPr>
          <p:cNvPr id="7" name="Shape 7"/>
          <p:cNvSpPr/>
          <p:nvPr/>
        </p:nvSpPr>
        <p:spPr>
          <a:xfrm>
            <a:off x="1005840" y="2834640"/>
            <a:ext cx="5303520" cy="749808"/>
          </a:xfrm>
          <a:prstGeom prst="roundRect">
            <a:avLst/>
          </a:prstGeom>
          <a:solidFill>
            <a:srgbClr val="191F28"/>
          </a:solidFill>
          <a:ln w="12700">
            <a:solidFill>
              <a:srgbClr val="2F3947"/>
            </a:solidFill>
          </a:ln>
        </p:spPr>
        <p:txBody>
          <a:bodyPr/>
          <a:lstStyle/>
          <a:p/>
        </p:txBody>
      </p:sp>
      <p:sp>
        <p:nvSpPr>
          <p:cNvPr id="8" name="Text 8"/>
          <p:cNvSpPr txBox="1"/>
          <p:nvPr/>
        </p:nvSpPr>
        <p:spPr>
          <a:xfrm>
            <a:off x="1188720" y="2953512"/>
            <a:ext cx="2148840" cy="219456"/>
          </a:xfrm>
          <a:prstGeom prst="rect">
            <a:avLst/>
          </a:prstGeom>
          <a:noFill/>
          <a:ln>
            <a:noFill/>
          </a:ln>
        </p:spPr>
        <p:txBody>
          <a:bodyPr anchor="t" wrap="square"/>
          <a:lstStyle/>
          <a:p>
            <a:pPr algn="l"/>
            <a:r>
              <a:rPr lang="en-US" sz="1280" b="1">
                <a:solidFill>
                  <a:srgbClr val="F5C242"/>
                </a:solidFill>
                <a:latin typeface="Aptos"/>
              </a:rPr>
              <a:t>In-house development</a:t>
            </a:r>
            <a:endParaRPr lang="en-US" sz="1280">
              <a:solidFill>
                <a:srgbClr val="F5C242"/>
              </a:solidFill>
              <a:latin typeface="Aptos"/>
            </a:endParaRPr>
          </a:p>
        </p:txBody>
      </p:sp>
      <p:sp>
        <p:nvSpPr>
          <p:cNvPr id="9" name="Text 9"/>
          <p:cNvSpPr txBox="1"/>
          <p:nvPr/>
        </p:nvSpPr>
        <p:spPr>
          <a:xfrm>
            <a:off x="3611880" y="2944368"/>
            <a:ext cx="2423160" cy="329184"/>
          </a:xfrm>
          <a:prstGeom prst="rect">
            <a:avLst/>
          </a:prstGeom>
          <a:noFill/>
          <a:ln>
            <a:noFill/>
          </a:ln>
        </p:spPr>
        <p:txBody>
          <a:bodyPr anchor="t" wrap="square"/>
          <a:lstStyle/>
          <a:p>
            <a:pPr algn="l"/>
            <a:r>
              <a:rPr lang="en-US" sz="1019" b="0">
                <a:solidFill>
                  <a:srgbClr val="E0E6EE"/>
                </a:solidFill>
                <a:latin typeface="Aptos"/>
              </a:rPr>
              <a:t>Build original game concepts, attractions, and digital entertainment products.</a:t>
            </a:r>
            <a:endParaRPr lang="en-US" sz="1019">
              <a:solidFill>
                <a:srgbClr val="E0E6EE"/>
              </a:solidFill>
              <a:latin typeface="Aptos"/>
            </a:endParaRPr>
          </a:p>
        </p:txBody>
      </p:sp>
      <p:sp>
        <p:nvSpPr>
          <p:cNvPr id="10" name="Shape 10"/>
          <p:cNvSpPr/>
          <p:nvPr/>
        </p:nvSpPr>
        <p:spPr>
          <a:xfrm>
            <a:off x="1005840" y="3840480"/>
            <a:ext cx="5303520" cy="749808"/>
          </a:xfrm>
          <a:prstGeom prst="roundRect">
            <a:avLst/>
          </a:prstGeom>
          <a:solidFill>
            <a:srgbClr val="191F28"/>
          </a:solidFill>
          <a:ln w="12700">
            <a:solidFill>
              <a:srgbClr val="2F3947"/>
            </a:solidFill>
          </a:ln>
        </p:spPr>
        <p:txBody>
          <a:bodyPr/>
          <a:lstStyle/>
          <a:p/>
        </p:txBody>
      </p:sp>
      <p:sp>
        <p:nvSpPr>
          <p:cNvPr id="11" name="Text 11"/>
          <p:cNvSpPr txBox="1"/>
          <p:nvPr/>
        </p:nvSpPr>
        <p:spPr>
          <a:xfrm>
            <a:off x="1188720" y="3959352"/>
            <a:ext cx="2148840" cy="219456"/>
          </a:xfrm>
          <a:prstGeom prst="rect">
            <a:avLst/>
          </a:prstGeom>
          <a:noFill/>
          <a:ln>
            <a:noFill/>
          </a:ln>
        </p:spPr>
        <p:txBody>
          <a:bodyPr anchor="t" wrap="square"/>
          <a:lstStyle/>
          <a:p>
            <a:pPr algn="l"/>
            <a:r>
              <a:rPr lang="en-US" sz="1280" b="1">
                <a:solidFill>
                  <a:srgbClr val="F5C242"/>
                </a:solidFill>
                <a:latin typeface="Aptos"/>
              </a:rPr>
              <a:t>Playtests and release loops</a:t>
            </a:r>
            <a:endParaRPr lang="en-US" sz="1280">
              <a:solidFill>
                <a:srgbClr val="F5C242"/>
              </a:solidFill>
              <a:latin typeface="Aptos"/>
            </a:endParaRPr>
          </a:p>
        </p:txBody>
      </p:sp>
      <p:sp>
        <p:nvSpPr>
          <p:cNvPr id="12" name="Text 12"/>
          <p:cNvSpPr txBox="1"/>
          <p:nvPr/>
        </p:nvSpPr>
        <p:spPr>
          <a:xfrm>
            <a:off x="3611880" y="3950208"/>
            <a:ext cx="2423160" cy="329184"/>
          </a:xfrm>
          <a:prstGeom prst="rect">
            <a:avLst/>
          </a:prstGeom>
          <a:noFill/>
          <a:ln>
            <a:noFill/>
          </a:ln>
        </p:spPr>
        <p:txBody>
          <a:bodyPr anchor="t" wrap="square"/>
          <a:lstStyle/>
          <a:p>
            <a:pPr algn="l"/>
            <a:r>
              <a:rPr lang="en-US" sz="1019" b="0">
                <a:solidFill>
                  <a:srgbClr val="E0E6EE"/>
                </a:solidFill>
                <a:latin typeface="Aptos"/>
              </a:rPr>
              <a:t>Use closed tests, launch nights, and audience feedback before wider release.</a:t>
            </a:r>
            <a:endParaRPr lang="en-US" sz="1019">
              <a:solidFill>
                <a:srgbClr val="E0E6EE"/>
              </a:solidFill>
              <a:latin typeface="Aptos"/>
            </a:endParaRPr>
          </a:p>
        </p:txBody>
      </p:sp>
      <p:sp>
        <p:nvSpPr>
          <p:cNvPr id="13" name="Shape 13"/>
          <p:cNvSpPr/>
          <p:nvPr/>
        </p:nvSpPr>
        <p:spPr>
          <a:xfrm>
            <a:off x="1005840" y="4846320"/>
            <a:ext cx="5303520" cy="749808"/>
          </a:xfrm>
          <a:prstGeom prst="roundRect">
            <a:avLst/>
          </a:prstGeom>
          <a:solidFill>
            <a:srgbClr val="191F28"/>
          </a:solidFill>
          <a:ln w="12700">
            <a:solidFill>
              <a:srgbClr val="2F3947"/>
            </a:solidFill>
          </a:ln>
        </p:spPr>
        <p:txBody>
          <a:bodyPr/>
          <a:lstStyle/>
          <a:p/>
        </p:txBody>
      </p:sp>
      <p:sp>
        <p:nvSpPr>
          <p:cNvPr id="14" name="Text 14"/>
          <p:cNvSpPr txBox="1"/>
          <p:nvPr/>
        </p:nvSpPr>
        <p:spPr>
          <a:xfrm>
            <a:off x="1188720" y="4965192"/>
            <a:ext cx="2148840" cy="219456"/>
          </a:xfrm>
          <a:prstGeom prst="rect">
            <a:avLst/>
          </a:prstGeom>
          <a:noFill/>
          <a:ln>
            <a:noFill/>
          </a:ln>
        </p:spPr>
        <p:txBody>
          <a:bodyPr anchor="t" wrap="square"/>
          <a:lstStyle/>
          <a:p>
            <a:pPr algn="l"/>
            <a:r>
              <a:rPr lang="en-US" sz="1280" b="1">
                <a:solidFill>
                  <a:srgbClr val="F5C242"/>
                </a:solidFill>
                <a:latin typeface="Aptos"/>
              </a:rPr>
              <a:t>Creator programming</a:t>
            </a:r>
            <a:endParaRPr lang="en-US" sz="1280">
              <a:solidFill>
                <a:srgbClr val="F5C242"/>
              </a:solidFill>
              <a:latin typeface="Aptos"/>
            </a:endParaRPr>
          </a:p>
        </p:txBody>
      </p:sp>
      <p:sp>
        <p:nvSpPr>
          <p:cNvPr id="15" name="Text 15"/>
          <p:cNvSpPr txBox="1"/>
          <p:nvPr/>
        </p:nvSpPr>
        <p:spPr>
          <a:xfrm>
            <a:off x="3611880" y="4956048"/>
            <a:ext cx="2423160" cy="329184"/>
          </a:xfrm>
          <a:prstGeom prst="rect">
            <a:avLst/>
          </a:prstGeom>
          <a:noFill/>
          <a:ln>
            <a:noFill/>
          </a:ln>
        </p:spPr>
        <p:txBody>
          <a:bodyPr anchor="t" wrap="square"/>
          <a:lstStyle/>
          <a:p>
            <a:pPr algn="l"/>
            <a:r>
              <a:rPr lang="en-US" sz="1019" b="0">
                <a:solidFill>
                  <a:srgbClr val="E0E6EE"/>
                </a:solidFill>
                <a:latin typeface="Aptos"/>
              </a:rPr>
              <a:t>Support student work, indie collaborations, and experimental drops tied to the venue.</a:t>
            </a:r>
            <a:endParaRPr lang="en-US" sz="1019">
              <a:solidFill>
                <a:srgbClr val="E0E6EE"/>
              </a:solidFill>
              <a:latin typeface="Apto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6F0E5"/>
          </a:solidFill>
          <a:ln>
            <a:noFill/>
          </a:ln>
        </p:spPr>
        <p:txBody>
          <a:bodyPr/>
          <a:lstStyle/>
          <a:p/>
        </p:txBody>
      </p:sp>
      <p:sp>
        <p:nvSpPr>
          <p:cNvPr id="3" name="Text 3"/>
          <p:cNvSpPr txBox="1"/>
          <p:nvPr/>
        </p:nvSpPr>
        <p:spPr>
          <a:xfrm>
            <a:off x="822960" y="914400"/>
            <a:ext cx="5120640" cy="502920"/>
          </a:xfrm>
          <a:prstGeom prst="rect">
            <a:avLst/>
          </a:prstGeom>
          <a:noFill/>
          <a:ln>
            <a:noFill/>
          </a:ln>
        </p:spPr>
        <p:txBody>
          <a:bodyPr anchor="t" wrap="square"/>
          <a:lstStyle/>
          <a:p>
            <a:pPr algn="l"/>
            <a:r>
              <a:rPr lang="en-US" sz="2600" b="1">
                <a:solidFill>
                  <a:srgbClr val="111111"/>
                </a:solidFill>
                <a:latin typeface="Georgia"/>
              </a:rPr>
              <a:t>Built for operators across multiple entertainment models.</a:t>
            </a:r>
            <a:endParaRPr lang="en-US" sz="2600">
              <a:solidFill>
                <a:srgbClr val="111111"/>
              </a:solidFill>
              <a:latin typeface="Georgia"/>
            </a:endParaRPr>
          </a:p>
        </p:txBody>
      </p:sp>
      <p:sp>
        <p:nvSpPr>
          <p:cNvPr id="4" name="Text 4"/>
          <p:cNvSpPr txBox="1"/>
          <p:nvPr/>
        </p:nvSpPr>
        <p:spPr>
          <a:xfrm>
            <a:off x="822960" y="1645920"/>
            <a:ext cx="5303520" cy="777240"/>
          </a:xfrm>
          <a:prstGeom prst="rect">
            <a:avLst/>
          </a:prstGeom>
          <a:noFill/>
          <a:ln>
            <a:noFill/>
          </a:ln>
        </p:spPr>
        <p:txBody>
          <a:bodyPr anchor="t" wrap="square"/>
          <a:lstStyle/>
          <a:p>
            <a:pPr algn="l"/>
            <a:r>
              <a:rPr lang="en-US" sz="1230" b="0">
                <a:solidFill>
                  <a:srgbClr val="5A616C"/>
                </a:solidFill>
                <a:latin typeface="Aptos"/>
              </a:rPr>
              <a:t>The platform is designed for businesses that mix digital products, destination programming, scheduled access, and recurring membership demand.</a:t>
            </a:r>
            <a:endParaRPr lang="en-US" sz="1230">
              <a:solidFill>
                <a:srgbClr val="5A616C"/>
              </a:solidFill>
              <a:latin typeface="Aptos"/>
            </a:endParaRPr>
          </a:p>
        </p:txBody>
      </p:sp>
      <p:sp>
        <p:nvSpPr>
          <p:cNvPr id="5" name="Shape 5"/>
          <p:cNvSpPr/>
          <p:nvPr/>
        </p:nvSpPr>
        <p:spPr>
          <a:xfrm>
            <a:off x="868680" y="2926080"/>
            <a:ext cx="2606040" cy="2011680"/>
          </a:xfrm>
          <a:prstGeom prst="roundRect">
            <a:avLst/>
          </a:prstGeom>
          <a:solidFill>
            <a:srgbClr val="FFFFFF"/>
          </a:solidFill>
          <a:ln w="12700">
            <a:solidFill>
              <a:srgbClr val="DACBAE"/>
            </a:solidFill>
          </a:ln>
        </p:spPr>
        <p:txBody>
          <a:bodyPr/>
          <a:lstStyle/>
          <a:p/>
        </p:txBody>
      </p:sp>
      <p:sp>
        <p:nvSpPr>
          <p:cNvPr id="6" name="Text 6"/>
          <p:cNvSpPr txBox="1"/>
          <p:nvPr/>
        </p:nvSpPr>
        <p:spPr>
          <a:xfrm>
            <a:off x="1014983" y="3108960"/>
            <a:ext cx="2011680" cy="310896"/>
          </a:xfrm>
          <a:prstGeom prst="rect">
            <a:avLst/>
          </a:prstGeom>
          <a:noFill/>
          <a:ln>
            <a:noFill/>
          </a:ln>
        </p:spPr>
        <p:txBody>
          <a:bodyPr anchor="t" wrap="square"/>
          <a:lstStyle/>
          <a:p>
            <a:pPr algn="l"/>
            <a:r>
              <a:rPr lang="en-US" sz="1400" b="1">
                <a:solidFill>
                  <a:srgbClr val="111111"/>
                </a:solidFill>
                <a:latin typeface="Aptos"/>
              </a:rPr>
              <a:t>Arcade + esports venues</a:t>
            </a:r>
            <a:endParaRPr lang="en-US" sz="1400">
              <a:solidFill>
                <a:srgbClr val="111111"/>
              </a:solidFill>
              <a:latin typeface="Aptos"/>
            </a:endParaRPr>
          </a:p>
        </p:txBody>
      </p:sp>
      <p:sp>
        <p:nvSpPr>
          <p:cNvPr id="7" name="Text 7"/>
          <p:cNvSpPr txBox="1"/>
          <p:nvPr/>
        </p:nvSpPr>
        <p:spPr>
          <a:xfrm>
            <a:off x="1014983" y="3584448"/>
            <a:ext cx="2057400" cy="868680"/>
          </a:xfrm>
          <a:prstGeom prst="rect">
            <a:avLst/>
          </a:prstGeom>
          <a:noFill/>
          <a:ln>
            <a:noFill/>
          </a:ln>
        </p:spPr>
        <p:txBody>
          <a:bodyPr anchor="t" wrap="square"/>
          <a:lstStyle/>
          <a:p>
            <a:pPr algn="l"/>
            <a:r>
              <a:rPr lang="en-US" sz="1060" b="0">
                <a:solidFill>
                  <a:srgbClr val="5A616C"/>
                </a:solidFill>
                <a:latin typeface="Aptos"/>
              </a:rPr>
              <a:t>Tournaments, gamer identity, passes, and digital competition.</a:t>
            </a:r>
            <a:endParaRPr lang="en-US" sz="1060">
              <a:solidFill>
                <a:srgbClr val="5A616C"/>
              </a:solidFill>
              <a:latin typeface="Aptos"/>
            </a:endParaRPr>
          </a:p>
        </p:txBody>
      </p:sp>
      <p:sp>
        <p:nvSpPr>
          <p:cNvPr id="8" name="Shape 8"/>
          <p:cNvSpPr/>
          <p:nvPr/>
        </p:nvSpPr>
        <p:spPr>
          <a:xfrm>
            <a:off x="3657600" y="2926080"/>
            <a:ext cx="2606040" cy="2011680"/>
          </a:xfrm>
          <a:prstGeom prst="roundRect">
            <a:avLst/>
          </a:prstGeom>
          <a:solidFill>
            <a:srgbClr val="F3E7BD"/>
          </a:solidFill>
          <a:ln w="12700">
            <a:solidFill>
              <a:srgbClr val="DACBAE"/>
            </a:solidFill>
          </a:ln>
        </p:spPr>
        <p:txBody>
          <a:bodyPr/>
          <a:lstStyle/>
          <a:p/>
        </p:txBody>
      </p:sp>
      <p:sp>
        <p:nvSpPr>
          <p:cNvPr id="9" name="Text 9"/>
          <p:cNvSpPr txBox="1"/>
          <p:nvPr/>
        </p:nvSpPr>
        <p:spPr>
          <a:xfrm>
            <a:off x="3803904" y="3108960"/>
            <a:ext cx="2011680" cy="310896"/>
          </a:xfrm>
          <a:prstGeom prst="rect">
            <a:avLst/>
          </a:prstGeom>
          <a:noFill/>
          <a:ln>
            <a:noFill/>
          </a:ln>
        </p:spPr>
        <p:txBody>
          <a:bodyPr anchor="t" wrap="square"/>
          <a:lstStyle/>
          <a:p>
            <a:pPr algn="l"/>
            <a:r>
              <a:rPr lang="en-US" sz="1400" b="1">
                <a:solidFill>
                  <a:srgbClr val="111111"/>
                </a:solidFill>
                <a:latin typeface="Aptos"/>
              </a:rPr>
              <a:t>Sports + recreation centers</a:t>
            </a:r>
            <a:endParaRPr lang="en-US" sz="1400">
              <a:solidFill>
                <a:srgbClr val="111111"/>
              </a:solidFill>
              <a:latin typeface="Aptos"/>
            </a:endParaRPr>
          </a:p>
        </p:txBody>
      </p:sp>
      <p:sp>
        <p:nvSpPr>
          <p:cNvPr id="10" name="Text 10"/>
          <p:cNvSpPr txBox="1"/>
          <p:nvPr/>
        </p:nvSpPr>
        <p:spPr>
          <a:xfrm>
            <a:off x="3803904" y="3584448"/>
            <a:ext cx="2057400" cy="868680"/>
          </a:xfrm>
          <a:prstGeom prst="rect">
            <a:avLst/>
          </a:prstGeom>
          <a:noFill/>
          <a:ln>
            <a:noFill/>
          </a:ln>
        </p:spPr>
        <p:txBody>
          <a:bodyPr anchor="t" wrap="square"/>
          <a:lstStyle/>
          <a:p>
            <a:pPr algn="l"/>
            <a:r>
              <a:rPr lang="en-US" sz="1060" b="0">
                <a:solidFill>
                  <a:srgbClr val="5A616C"/>
                </a:solidFill>
                <a:latin typeface="Aptos"/>
              </a:rPr>
              <a:t>Leagues, drop-ins, programs, and recurring access logic.</a:t>
            </a:r>
            <a:endParaRPr lang="en-US" sz="1060">
              <a:solidFill>
                <a:srgbClr val="5A616C"/>
              </a:solidFill>
              <a:latin typeface="Aptos"/>
            </a:endParaRPr>
          </a:p>
        </p:txBody>
      </p:sp>
      <p:sp>
        <p:nvSpPr>
          <p:cNvPr id="11" name="Shape 11"/>
          <p:cNvSpPr/>
          <p:nvPr/>
        </p:nvSpPr>
        <p:spPr>
          <a:xfrm>
            <a:off x="6446520" y="2926080"/>
            <a:ext cx="2606040" cy="2011680"/>
          </a:xfrm>
          <a:prstGeom prst="roundRect">
            <a:avLst/>
          </a:prstGeom>
          <a:solidFill>
            <a:srgbClr val="FFFFFF"/>
          </a:solidFill>
          <a:ln w="12700">
            <a:solidFill>
              <a:srgbClr val="DACBAE"/>
            </a:solidFill>
          </a:ln>
        </p:spPr>
        <p:txBody>
          <a:bodyPr/>
          <a:lstStyle/>
          <a:p/>
        </p:txBody>
      </p:sp>
      <p:sp>
        <p:nvSpPr>
          <p:cNvPr id="12" name="Text 12"/>
          <p:cNvSpPr txBox="1"/>
          <p:nvPr/>
        </p:nvSpPr>
        <p:spPr>
          <a:xfrm>
            <a:off x="6592824" y="3108960"/>
            <a:ext cx="2011680" cy="310896"/>
          </a:xfrm>
          <a:prstGeom prst="rect">
            <a:avLst/>
          </a:prstGeom>
          <a:noFill/>
          <a:ln>
            <a:noFill/>
          </a:ln>
        </p:spPr>
        <p:txBody>
          <a:bodyPr anchor="t" wrap="square"/>
          <a:lstStyle/>
          <a:p>
            <a:pPr algn="l"/>
            <a:r>
              <a:rPr lang="en-US" sz="1400" b="1">
                <a:solidFill>
                  <a:srgbClr val="111111"/>
                </a:solidFill>
                <a:latin typeface="Aptos"/>
              </a:rPr>
              <a:t>Immersive attractions</a:t>
            </a:r>
            <a:endParaRPr lang="en-US" sz="1400">
              <a:solidFill>
                <a:srgbClr val="111111"/>
              </a:solidFill>
              <a:latin typeface="Aptos"/>
            </a:endParaRPr>
          </a:p>
        </p:txBody>
      </p:sp>
      <p:sp>
        <p:nvSpPr>
          <p:cNvPr id="13" name="Text 13"/>
          <p:cNvSpPr txBox="1"/>
          <p:nvPr/>
        </p:nvSpPr>
        <p:spPr>
          <a:xfrm>
            <a:off x="6592824" y="3584448"/>
            <a:ext cx="2057400" cy="868680"/>
          </a:xfrm>
          <a:prstGeom prst="rect">
            <a:avLst/>
          </a:prstGeom>
          <a:noFill/>
          <a:ln>
            <a:noFill/>
          </a:ln>
        </p:spPr>
        <p:txBody>
          <a:bodyPr anchor="t" wrap="square"/>
          <a:lstStyle/>
          <a:p>
            <a:pPr algn="l"/>
            <a:r>
              <a:rPr lang="en-US" sz="1060" b="0">
                <a:solidFill>
                  <a:srgbClr val="5A616C"/>
                </a:solidFill>
                <a:latin typeface="Aptos"/>
              </a:rPr>
              <a:t>AR / VR rooms, premium sessions, and packageable experiences.</a:t>
            </a:r>
            <a:endParaRPr lang="en-US" sz="1060">
              <a:solidFill>
                <a:srgbClr val="5A616C"/>
              </a:solidFill>
              <a:latin typeface="Aptos"/>
            </a:endParaRPr>
          </a:p>
        </p:txBody>
      </p:sp>
      <p:sp>
        <p:nvSpPr>
          <p:cNvPr id="14" name="Shape 14"/>
          <p:cNvSpPr/>
          <p:nvPr/>
        </p:nvSpPr>
        <p:spPr>
          <a:xfrm>
            <a:off x="9235440" y="2926080"/>
            <a:ext cx="2606040" cy="2011680"/>
          </a:xfrm>
          <a:prstGeom prst="roundRect">
            <a:avLst/>
          </a:prstGeom>
          <a:solidFill>
            <a:srgbClr val="F3E7BD"/>
          </a:solidFill>
          <a:ln w="12700">
            <a:solidFill>
              <a:srgbClr val="DACBAE"/>
            </a:solidFill>
          </a:ln>
        </p:spPr>
        <p:txBody>
          <a:bodyPr/>
          <a:lstStyle/>
          <a:p/>
        </p:txBody>
      </p:sp>
      <p:sp>
        <p:nvSpPr>
          <p:cNvPr id="15" name="Text 15"/>
          <p:cNvSpPr txBox="1"/>
          <p:nvPr/>
        </p:nvSpPr>
        <p:spPr>
          <a:xfrm>
            <a:off x="9381744" y="3108960"/>
            <a:ext cx="2011680" cy="310896"/>
          </a:xfrm>
          <a:prstGeom prst="rect">
            <a:avLst/>
          </a:prstGeom>
          <a:noFill/>
          <a:ln>
            <a:noFill/>
          </a:ln>
        </p:spPr>
        <p:txBody>
          <a:bodyPr anchor="t" wrap="square"/>
          <a:lstStyle/>
          <a:p>
            <a:pPr algn="l"/>
            <a:r>
              <a:rPr lang="en-US" sz="1400" b="1">
                <a:solidFill>
                  <a:srgbClr val="111111"/>
                </a:solidFill>
                <a:latin typeface="Aptos"/>
              </a:rPr>
              <a:t>Hybrid entertainment brands</a:t>
            </a:r>
            <a:endParaRPr lang="en-US" sz="1400">
              <a:solidFill>
                <a:srgbClr val="111111"/>
              </a:solidFill>
              <a:latin typeface="Aptos"/>
            </a:endParaRPr>
          </a:p>
        </p:txBody>
      </p:sp>
      <p:sp>
        <p:nvSpPr>
          <p:cNvPr id="16" name="Text 16"/>
          <p:cNvSpPr txBox="1"/>
          <p:nvPr/>
        </p:nvSpPr>
        <p:spPr>
          <a:xfrm>
            <a:off x="9381744" y="3584448"/>
            <a:ext cx="2057400" cy="868680"/>
          </a:xfrm>
          <a:prstGeom prst="rect">
            <a:avLst/>
          </a:prstGeom>
          <a:noFill/>
          <a:ln>
            <a:noFill/>
          </a:ln>
        </p:spPr>
        <p:txBody>
          <a:bodyPr anchor="t" wrap="square"/>
          <a:lstStyle/>
          <a:p>
            <a:pPr algn="l"/>
            <a:r>
              <a:rPr lang="en-US" sz="1060" b="0">
                <a:solidFill>
                  <a:srgbClr val="5A616C"/>
                </a:solidFill>
                <a:latin typeface="Aptos"/>
              </a:rPr>
              <a:t>Gaming, venue programming, parties, and content drops together.</a:t>
            </a:r>
            <a:endParaRPr lang="en-US" sz="1060">
              <a:solidFill>
                <a:srgbClr val="5A616C"/>
              </a:solidFill>
              <a:latin typeface="Apto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0B0D10"/>
          </a:solidFill>
          <a:ln>
            <a:noFill/>
          </a:ln>
        </p:spPr>
        <p:txBody>
          <a:bodyPr/>
          <a:lstStyle/>
          <a:p/>
        </p:txBody>
      </p:sp>
      <p:pic>
        <p:nvPicPr>
          <p:cNvPr id="3" name="Picture 3" descr="cineplex.png"/>
          <p:cNvPicPr>
            <a:picLocks noChangeAspect="1"/>
          </p:cNvPicPr>
          <p:nvPr/>
        </p:nvPicPr>
        <p:blipFill>
          <a:blip r:embed="rId2"/>
          <a:stretch>
            <a:fillRect/>
          </a:stretch>
        </p:blipFill>
        <p:spPr>
          <a:xfrm>
            <a:off x="685800" y="685800"/>
            <a:ext cx="3657600" cy="5486400"/>
          </a:xfrm>
          <a:prstGeom prst="roundRect">
            <a:avLst/>
          </a:prstGeom>
        </p:spPr>
      </p:pic>
      <p:sp>
        <p:nvSpPr>
          <p:cNvPr id="4" name="Shape 4"/>
          <p:cNvSpPr/>
          <p:nvPr/>
        </p:nvSpPr>
        <p:spPr>
          <a:xfrm>
            <a:off x="4572000" y="685800"/>
            <a:ext cx="6903720" cy="5486400"/>
          </a:xfrm>
          <a:prstGeom prst="roundRect">
            <a:avLst/>
          </a:prstGeom>
          <a:solidFill>
            <a:srgbClr val="F5C242"/>
          </a:solidFill>
          <a:ln>
            <a:noFill/>
          </a:ln>
        </p:spPr>
        <p:txBody>
          <a:bodyPr/>
          <a:lstStyle/>
          <a:p/>
        </p:txBody>
      </p:sp>
      <p:sp>
        <p:nvSpPr>
          <p:cNvPr id="5" name="Text 5"/>
          <p:cNvSpPr txBox="1"/>
          <p:nvPr/>
        </p:nvSpPr>
        <p:spPr>
          <a:xfrm>
            <a:off x="4892040" y="1005840"/>
            <a:ext cx="5486400" cy="438912"/>
          </a:xfrm>
          <a:prstGeom prst="rect">
            <a:avLst/>
          </a:prstGeom>
          <a:noFill/>
          <a:ln>
            <a:noFill/>
          </a:ln>
        </p:spPr>
        <p:txBody>
          <a:bodyPr anchor="t" wrap="square"/>
          <a:lstStyle/>
          <a:p>
            <a:pPr algn="l"/>
            <a:r>
              <a:rPr lang="en-US" sz="2450" b="1">
                <a:solidFill>
                  <a:srgbClr val="0B0D10"/>
                </a:solidFill>
                <a:latin typeface="Georgia"/>
              </a:rPr>
              <a:t>Community is a revenue loop, not a marketing extra.</a:t>
            </a:r>
            <a:endParaRPr lang="en-US" sz="2450">
              <a:solidFill>
                <a:srgbClr val="0B0D10"/>
              </a:solidFill>
              <a:latin typeface="Georgia"/>
            </a:endParaRPr>
          </a:p>
        </p:txBody>
      </p:sp>
      <p:sp>
        <p:nvSpPr>
          <p:cNvPr id="6" name="Text 6"/>
          <p:cNvSpPr txBox="1"/>
          <p:nvPr/>
        </p:nvSpPr>
        <p:spPr>
          <a:xfrm>
            <a:off x="4892040" y="1682496"/>
            <a:ext cx="5486400" cy="713232"/>
          </a:xfrm>
          <a:prstGeom prst="rect">
            <a:avLst/>
          </a:prstGeom>
          <a:noFill/>
          <a:ln>
            <a:noFill/>
          </a:ln>
        </p:spPr>
        <p:txBody>
          <a:bodyPr anchor="t" wrap="square"/>
          <a:lstStyle/>
          <a:p>
            <a:pPr algn="l"/>
            <a:r>
              <a:rPr lang="en-US" sz="1210" b="0">
                <a:solidFill>
                  <a:srgbClr val="3E372F"/>
                </a:solidFill>
                <a:latin typeface="Aptos"/>
              </a:rPr>
              <a:t>Player profiles, clubs, ladders, seasonal drops, and loyalty systems convert one-time traffic into recurring participation.</a:t>
            </a:r>
            <a:endParaRPr lang="en-US" sz="1210">
              <a:solidFill>
                <a:srgbClr val="3E372F"/>
              </a:solidFill>
              <a:latin typeface="Aptos"/>
            </a:endParaRPr>
          </a:p>
        </p:txBody>
      </p:sp>
      <p:sp>
        <p:nvSpPr>
          <p:cNvPr id="7" name="Shape 7"/>
          <p:cNvSpPr/>
          <p:nvPr/>
        </p:nvSpPr>
        <p:spPr>
          <a:xfrm>
            <a:off x="4892040" y="2788920"/>
            <a:ext cx="2560320" cy="1097280"/>
          </a:xfrm>
          <a:prstGeom prst="roundRect">
            <a:avLst/>
          </a:prstGeom>
          <a:solidFill>
            <a:srgbClr val="F8E8AE"/>
          </a:solidFill>
          <a:ln w="12700">
            <a:solidFill>
              <a:srgbClr val="C9A645"/>
            </a:solidFill>
          </a:ln>
        </p:spPr>
        <p:txBody>
          <a:bodyPr/>
          <a:lstStyle/>
          <a:p/>
        </p:txBody>
      </p:sp>
      <p:sp>
        <p:nvSpPr>
          <p:cNvPr id="8" name="Text 8"/>
          <p:cNvSpPr txBox="1"/>
          <p:nvPr/>
        </p:nvSpPr>
        <p:spPr>
          <a:xfrm>
            <a:off x="5038344" y="2916936"/>
            <a:ext cx="1920240" cy="256032"/>
          </a:xfrm>
          <a:prstGeom prst="rect">
            <a:avLst/>
          </a:prstGeom>
          <a:noFill/>
          <a:ln>
            <a:noFill/>
          </a:ln>
        </p:spPr>
        <p:txBody>
          <a:bodyPr anchor="t" wrap="square"/>
          <a:lstStyle/>
          <a:p>
            <a:pPr algn="l"/>
            <a:r>
              <a:rPr lang="en-US" sz="1320" b="1">
                <a:solidFill>
                  <a:srgbClr val="0B0D10"/>
                </a:solidFill>
                <a:latin typeface="Aptos"/>
              </a:rPr>
              <a:t>Player profiles</a:t>
            </a:r>
            <a:endParaRPr lang="en-US" sz="1320">
              <a:solidFill>
                <a:srgbClr val="0B0D10"/>
              </a:solidFill>
              <a:latin typeface="Aptos"/>
            </a:endParaRPr>
          </a:p>
        </p:txBody>
      </p:sp>
      <p:sp>
        <p:nvSpPr>
          <p:cNvPr id="9" name="Text 9"/>
          <p:cNvSpPr txBox="1"/>
          <p:nvPr/>
        </p:nvSpPr>
        <p:spPr>
          <a:xfrm>
            <a:off x="5038344" y="3227832"/>
            <a:ext cx="2103120" cy="457200"/>
          </a:xfrm>
          <a:prstGeom prst="rect">
            <a:avLst/>
          </a:prstGeom>
          <a:noFill/>
          <a:ln>
            <a:noFill/>
          </a:ln>
        </p:spPr>
        <p:txBody>
          <a:bodyPr anchor="t" wrap="square"/>
          <a:lstStyle/>
          <a:p>
            <a:pPr algn="l"/>
            <a:r>
              <a:rPr lang="en-US" sz="1019" b="0">
                <a:solidFill>
                  <a:srgbClr val="4C453D"/>
                </a:solidFill>
                <a:latin typeface="Aptos"/>
              </a:rPr>
              <a:t>Persistent identity across games, venue sessions, and rewards.</a:t>
            </a:r>
            <a:endParaRPr lang="en-US" sz="1019">
              <a:solidFill>
                <a:srgbClr val="4C453D"/>
              </a:solidFill>
              <a:latin typeface="Aptos"/>
            </a:endParaRPr>
          </a:p>
        </p:txBody>
      </p:sp>
      <p:sp>
        <p:nvSpPr>
          <p:cNvPr id="10" name="Shape 10"/>
          <p:cNvSpPr/>
          <p:nvPr/>
        </p:nvSpPr>
        <p:spPr>
          <a:xfrm>
            <a:off x="7818120" y="2788920"/>
            <a:ext cx="2560320" cy="1097280"/>
          </a:xfrm>
          <a:prstGeom prst="roundRect">
            <a:avLst/>
          </a:prstGeom>
          <a:solidFill>
            <a:srgbClr val="F8E8AE"/>
          </a:solidFill>
          <a:ln w="12700">
            <a:solidFill>
              <a:srgbClr val="C9A645"/>
            </a:solidFill>
          </a:ln>
        </p:spPr>
        <p:txBody>
          <a:bodyPr/>
          <a:lstStyle/>
          <a:p/>
        </p:txBody>
      </p:sp>
      <p:sp>
        <p:nvSpPr>
          <p:cNvPr id="11" name="Text 11"/>
          <p:cNvSpPr txBox="1"/>
          <p:nvPr/>
        </p:nvSpPr>
        <p:spPr>
          <a:xfrm>
            <a:off x="7964424" y="2916936"/>
            <a:ext cx="1920240" cy="256032"/>
          </a:xfrm>
          <a:prstGeom prst="rect">
            <a:avLst/>
          </a:prstGeom>
          <a:noFill/>
          <a:ln>
            <a:noFill/>
          </a:ln>
        </p:spPr>
        <p:txBody>
          <a:bodyPr anchor="t" wrap="square"/>
          <a:lstStyle/>
          <a:p>
            <a:pPr algn="l"/>
            <a:r>
              <a:rPr lang="en-US" sz="1320" b="1">
                <a:solidFill>
                  <a:srgbClr val="0B0D10"/>
                </a:solidFill>
                <a:latin typeface="Aptos"/>
              </a:rPr>
              <a:t>Clubs + squads</a:t>
            </a:r>
            <a:endParaRPr lang="en-US" sz="1320">
              <a:solidFill>
                <a:srgbClr val="0B0D10"/>
              </a:solidFill>
              <a:latin typeface="Aptos"/>
            </a:endParaRPr>
          </a:p>
        </p:txBody>
      </p:sp>
      <p:sp>
        <p:nvSpPr>
          <p:cNvPr id="12" name="Text 12"/>
          <p:cNvSpPr txBox="1"/>
          <p:nvPr/>
        </p:nvSpPr>
        <p:spPr>
          <a:xfrm>
            <a:off x="7964424" y="3227832"/>
            <a:ext cx="2103120" cy="457200"/>
          </a:xfrm>
          <a:prstGeom prst="rect">
            <a:avLst/>
          </a:prstGeom>
          <a:noFill/>
          <a:ln>
            <a:noFill/>
          </a:ln>
        </p:spPr>
        <p:txBody>
          <a:bodyPr anchor="t" wrap="square"/>
          <a:lstStyle/>
          <a:p>
            <a:pPr algn="l"/>
            <a:r>
              <a:rPr lang="en-US" sz="1019" b="0">
                <a:solidFill>
                  <a:srgbClr val="4C453D"/>
                </a:solidFill>
                <a:latin typeface="Aptos"/>
              </a:rPr>
              <a:t>Team structures for social participation and recurring competition.</a:t>
            </a:r>
            <a:endParaRPr lang="en-US" sz="1019">
              <a:solidFill>
                <a:srgbClr val="4C453D"/>
              </a:solidFill>
              <a:latin typeface="Aptos"/>
            </a:endParaRPr>
          </a:p>
        </p:txBody>
      </p:sp>
      <p:sp>
        <p:nvSpPr>
          <p:cNvPr id="13" name="Shape 13"/>
          <p:cNvSpPr/>
          <p:nvPr/>
        </p:nvSpPr>
        <p:spPr>
          <a:xfrm>
            <a:off x="4892040" y="4206240"/>
            <a:ext cx="2560320" cy="1097280"/>
          </a:xfrm>
          <a:prstGeom prst="roundRect">
            <a:avLst/>
          </a:prstGeom>
          <a:solidFill>
            <a:srgbClr val="F8E8AE"/>
          </a:solidFill>
          <a:ln w="12700">
            <a:solidFill>
              <a:srgbClr val="C9A645"/>
            </a:solidFill>
          </a:ln>
        </p:spPr>
        <p:txBody>
          <a:bodyPr/>
          <a:lstStyle/>
          <a:p/>
        </p:txBody>
      </p:sp>
      <p:sp>
        <p:nvSpPr>
          <p:cNvPr id="14" name="Text 14"/>
          <p:cNvSpPr txBox="1"/>
          <p:nvPr/>
        </p:nvSpPr>
        <p:spPr>
          <a:xfrm>
            <a:off x="5038344" y="4334255"/>
            <a:ext cx="1920240" cy="256032"/>
          </a:xfrm>
          <a:prstGeom prst="rect">
            <a:avLst/>
          </a:prstGeom>
          <a:noFill/>
          <a:ln>
            <a:noFill/>
          </a:ln>
        </p:spPr>
        <p:txBody>
          <a:bodyPr anchor="t" wrap="square"/>
          <a:lstStyle/>
          <a:p>
            <a:pPr algn="l"/>
            <a:r>
              <a:rPr lang="en-US" sz="1320" b="1">
                <a:solidFill>
                  <a:srgbClr val="0B0D10"/>
                </a:solidFill>
                <a:latin typeface="Aptos"/>
              </a:rPr>
              <a:t>Seasonal loops</a:t>
            </a:r>
            <a:endParaRPr lang="en-US" sz="1320">
              <a:solidFill>
                <a:srgbClr val="0B0D10"/>
              </a:solidFill>
              <a:latin typeface="Aptos"/>
            </a:endParaRPr>
          </a:p>
        </p:txBody>
      </p:sp>
      <p:sp>
        <p:nvSpPr>
          <p:cNvPr id="15" name="Text 15"/>
          <p:cNvSpPr txBox="1"/>
          <p:nvPr/>
        </p:nvSpPr>
        <p:spPr>
          <a:xfrm>
            <a:off x="5038344" y="4645152"/>
            <a:ext cx="2103120" cy="457200"/>
          </a:xfrm>
          <a:prstGeom prst="rect">
            <a:avLst/>
          </a:prstGeom>
          <a:noFill/>
          <a:ln>
            <a:noFill/>
          </a:ln>
        </p:spPr>
        <p:txBody>
          <a:bodyPr anchor="t" wrap="square"/>
          <a:lstStyle/>
          <a:p>
            <a:pPr algn="l"/>
            <a:r>
              <a:rPr lang="en-US" sz="1019" b="0">
                <a:solidFill>
                  <a:srgbClr val="4C453D"/>
                </a:solidFill>
                <a:latin typeface="Aptos"/>
              </a:rPr>
              <a:t>Events, milestones, challenges, and return-driven progression.</a:t>
            </a:r>
            <a:endParaRPr lang="en-US" sz="1019">
              <a:solidFill>
                <a:srgbClr val="4C453D"/>
              </a:solidFill>
              <a:latin typeface="Aptos"/>
            </a:endParaRPr>
          </a:p>
        </p:txBody>
      </p:sp>
      <p:sp>
        <p:nvSpPr>
          <p:cNvPr id="16" name="Shape 16"/>
          <p:cNvSpPr/>
          <p:nvPr/>
        </p:nvSpPr>
        <p:spPr>
          <a:xfrm>
            <a:off x="7818120" y="4206240"/>
            <a:ext cx="2560320" cy="1097280"/>
          </a:xfrm>
          <a:prstGeom prst="roundRect">
            <a:avLst/>
          </a:prstGeom>
          <a:solidFill>
            <a:srgbClr val="F8E8AE"/>
          </a:solidFill>
          <a:ln w="12700">
            <a:solidFill>
              <a:srgbClr val="C9A645"/>
            </a:solidFill>
          </a:ln>
        </p:spPr>
        <p:txBody>
          <a:bodyPr/>
          <a:lstStyle/>
          <a:p/>
        </p:txBody>
      </p:sp>
      <p:sp>
        <p:nvSpPr>
          <p:cNvPr id="17" name="Text 17"/>
          <p:cNvSpPr txBox="1"/>
          <p:nvPr/>
        </p:nvSpPr>
        <p:spPr>
          <a:xfrm>
            <a:off x="7964424" y="4334255"/>
            <a:ext cx="1920240" cy="256032"/>
          </a:xfrm>
          <a:prstGeom prst="rect">
            <a:avLst/>
          </a:prstGeom>
          <a:noFill/>
          <a:ln>
            <a:noFill/>
          </a:ln>
        </p:spPr>
        <p:txBody>
          <a:bodyPr anchor="t" wrap="square"/>
          <a:lstStyle/>
          <a:p>
            <a:pPr algn="l"/>
            <a:r>
              <a:rPr lang="en-US" sz="1320" b="1">
                <a:solidFill>
                  <a:srgbClr val="0B0D10"/>
                </a:solidFill>
                <a:latin typeface="Aptos"/>
              </a:rPr>
              <a:t>Digital loyalty</a:t>
            </a:r>
            <a:endParaRPr lang="en-US" sz="1320">
              <a:solidFill>
                <a:srgbClr val="0B0D10"/>
              </a:solidFill>
              <a:latin typeface="Aptos"/>
            </a:endParaRPr>
          </a:p>
        </p:txBody>
      </p:sp>
      <p:sp>
        <p:nvSpPr>
          <p:cNvPr id="18" name="Text 18"/>
          <p:cNvSpPr txBox="1"/>
          <p:nvPr/>
        </p:nvSpPr>
        <p:spPr>
          <a:xfrm>
            <a:off x="7964424" y="4645152"/>
            <a:ext cx="2103120" cy="457200"/>
          </a:xfrm>
          <a:prstGeom prst="rect">
            <a:avLst/>
          </a:prstGeom>
          <a:noFill/>
          <a:ln>
            <a:noFill/>
          </a:ln>
        </p:spPr>
        <p:txBody>
          <a:bodyPr anchor="t" wrap="square"/>
          <a:lstStyle/>
          <a:p>
            <a:pPr algn="l"/>
            <a:r>
              <a:rPr lang="en-US" sz="1019" b="0">
                <a:solidFill>
                  <a:srgbClr val="4C453D"/>
                </a:solidFill>
                <a:latin typeface="Aptos"/>
              </a:rPr>
              <a:t>Credits, premium access, and membership-grade retention pathways.</a:t>
            </a:r>
            <a:endParaRPr lang="en-US" sz="1019">
              <a:solidFill>
                <a:srgbClr val="4C453D"/>
              </a:solidFill>
              <a:latin typeface="Apto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FF9F0"/>
          </a:solidFill>
          <a:ln>
            <a:noFill/>
          </a:ln>
        </p:spPr>
        <p:txBody>
          <a:bodyPr/>
          <a:lstStyle/>
          <a:p/>
        </p:txBody>
      </p:sp>
      <p:sp>
        <p:nvSpPr>
          <p:cNvPr id="3" name="Text 3"/>
          <p:cNvSpPr txBox="1"/>
          <p:nvPr/>
        </p:nvSpPr>
        <p:spPr>
          <a:xfrm>
            <a:off x="822960" y="914400"/>
            <a:ext cx="5303520" cy="502920"/>
          </a:xfrm>
          <a:prstGeom prst="rect">
            <a:avLst/>
          </a:prstGeom>
          <a:noFill/>
          <a:ln>
            <a:noFill/>
          </a:ln>
        </p:spPr>
        <p:txBody>
          <a:bodyPr anchor="t" wrap="square"/>
          <a:lstStyle/>
          <a:p>
            <a:pPr algn="l"/>
            <a:r>
              <a:rPr lang="en-US" sz="2500" b="1">
                <a:solidFill>
                  <a:srgbClr val="111111"/>
                </a:solidFill>
                <a:latin typeface="Georgia"/>
              </a:rPr>
              <a:t>The brand can live across entertainment, destination, and content partnerships.</a:t>
            </a:r>
            <a:endParaRPr lang="en-US" sz="2500">
              <a:solidFill>
                <a:srgbClr val="111111"/>
              </a:solidFill>
              <a:latin typeface="Georgia"/>
            </a:endParaRPr>
          </a:p>
        </p:txBody>
      </p:sp>
      <p:sp>
        <p:nvSpPr>
          <p:cNvPr id="4" name="Text 4"/>
          <p:cNvSpPr txBox="1"/>
          <p:nvPr/>
        </p:nvSpPr>
        <p:spPr>
          <a:xfrm>
            <a:off x="822960" y="1627632"/>
            <a:ext cx="5394960" cy="731520"/>
          </a:xfrm>
          <a:prstGeom prst="rect">
            <a:avLst/>
          </a:prstGeom>
          <a:noFill/>
          <a:ln>
            <a:noFill/>
          </a:ln>
        </p:spPr>
        <p:txBody>
          <a:bodyPr anchor="t" wrap="square"/>
          <a:lstStyle/>
          <a:p>
            <a:pPr algn="l"/>
            <a:r>
              <a:rPr lang="en-US" sz="1230" b="0">
                <a:solidFill>
                  <a:srgbClr val="5A616C"/>
                </a:solidFill>
                <a:latin typeface="Aptos"/>
              </a:rPr>
              <a:t>Partnerships are not cosmetic. They can drive discovery, live programming, co-branded launches, and venue traffic.</a:t>
            </a:r>
            <a:endParaRPr lang="en-US" sz="1230">
              <a:solidFill>
                <a:srgbClr val="5A616C"/>
              </a:solidFill>
              <a:latin typeface="Aptos"/>
            </a:endParaRPr>
          </a:p>
        </p:txBody>
      </p:sp>
      <p:sp>
        <p:nvSpPr>
          <p:cNvPr id="5" name="Shape 5"/>
          <p:cNvSpPr/>
          <p:nvPr/>
        </p:nvSpPr>
        <p:spPr>
          <a:xfrm>
            <a:off x="868680" y="2743200"/>
            <a:ext cx="2743200" cy="2468880"/>
          </a:xfrm>
          <a:prstGeom prst="roundRect">
            <a:avLst/>
          </a:prstGeom>
          <a:solidFill>
            <a:srgbClr val="FFFFFF"/>
          </a:solidFill>
          <a:ln w="12700">
            <a:solidFill>
              <a:srgbClr val="D5C7B3"/>
            </a:solidFill>
          </a:ln>
        </p:spPr>
        <p:txBody>
          <a:bodyPr/>
          <a:lstStyle/>
          <a:p/>
        </p:txBody>
      </p:sp>
      <p:pic>
        <p:nvPicPr>
          <p:cNvPr id="6" name="Picture 6" descr="cineplex.png"/>
          <p:cNvPicPr>
            <a:picLocks noChangeAspect="1"/>
          </p:cNvPicPr>
          <p:nvPr/>
        </p:nvPicPr>
        <p:blipFill>
          <a:blip r:embed="rId2"/>
          <a:stretch>
            <a:fillRect/>
          </a:stretch>
        </p:blipFill>
        <p:spPr>
          <a:xfrm>
            <a:off x="1051560" y="2907792"/>
            <a:ext cx="2377440" cy="1600200"/>
          </a:xfrm>
          <a:prstGeom prst="roundRect">
            <a:avLst/>
          </a:prstGeom>
        </p:spPr>
      </p:pic>
      <p:sp>
        <p:nvSpPr>
          <p:cNvPr id="7" name="Text 7"/>
          <p:cNvSpPr txBox="1"/>
          <p:nvPr/>
        </p:nvSpPr>
        <p:spPr>
          <a:xfrm>
            <a:off x="1051560" y="4709160"/>
            <a:ext cx="2377440" cy="320040"/>
          </a:xfrm>
          <a:prstGeom prst="rect">
            <a:avLst/>
          </a:prstGeom>
          <a:noFill/>
          <a:ln>
            <a:noFill/>
          </a:ln>
        </p:spPr>
        <p:txBody>
          <a:bodyPr anchor="t" wrap="square"/>
          <a:lstStyle/>
          <a:p>
            <a:pPr algn="c"/>
            <a:r>
              <a:rPr lang="en-US" sz="1180" b="1">
                <a:solidFill>
                  <a:srgbClr val="111111"/>
                </a:solidFill>
                <a:latin typeface="Aptos"/>
              </a:rPr>
              <a:t>Entertainment partner</a:t>
            </a:r>
            <a:endParaRPr lang="en-US" sz="1180">
              <a:solidFill>
                <a:srgbClr val="111111"/>
              </a:solidFill>
              <a:latin typeface="Aptos"/>
            </a:endParaRPr>
          </a:p>
        </p:txBody>
      </p:sp>
      <p:sp>
        <p:nvSpPr>
          <p:cNvPr id="8" name="Shape 8"/>
          <p:cNvSpPr/>
          <p:nvPr/>
        </p:nvSpPr>
        <p:spPr>
          <a:xfrm>
            <a:off x="4050791" y="2743200"/>
            <a:ext cx="2743200" cy="2468880"/>
          </a:xfrm>
          <a:prstGeom prst="roundRect">
            <a:avLst/>
          </a:prstGeom>
          <a:solidFill>
            <a:srgbClr val="F7EBC6"/>
          </a:solidFill>
          <a:ln w="12700">
            <a:solidFill>
              <a:srgbClr val="D5C7B3"/>
            </a:solidFill>
          </a:ln>
        </p:spPr>
        <p:txBody>
          <a:bodyPr/>
          <a:lstStyle/>
          <a:p/>
        </p:txBody>
      </p:sp>
      <p:pic>
        <p:nvPicPr>
          <p:cNvPr id="9" name="Picture 9" descr="cntower.jpeg"/>
          <p:cNvPicPr>
            <a:picLocks noChangeAspect="1"/>
          </p:cNvPicPr>
          <p:nvPr/>
        </p:nvPicPr>
        <p:blipFill>
          <a:blip r:embed="rId3"/>
          <a:stretch>
            <a:fillRect/>
          </a:stretch>
        </p:blipFill>
        <p:spPr>
          <a:xfrm>
            <a:off x="4233672" y="2907792"/>
            <a:ext cx="2377440" cy="1600200"/>
          </a:xfrm>
          <a:prstGeom prst="roundRect">
            <a:avLst/>
          </a:prstGeom>
        </p:spPr>
      </p:pic>
      <p:sp>
        <p:nvSpPr>
          <p:cNvPr id="10" name="Text 10"/>
          <p:cNvSpPr txBox="1"/>
          <p:nvPr/>
        </p:nvSpPr>
        <p:spPr>
          <a:xfrm>
            <a:off x="4233672" y="4709160"/>
            <a:ext cx="2377440" cy="320040"/>
          </a:xfrm>
          <a:prstGeom prst="rect">
            <a:avLst/>
          </a:prstGeom>
          <a:noFill/>
          <a:ln>
            <a:noFill/>
          </a:ln>
        </p:spPr>
        <p:txBody>
          <a:bodyPr anchor="t" wrap="square"/>
          <a:lstStyle/>
          <a:p>
            <a:pPr algn="c"/>
            <a:r>
              <a:rPr lang="en-US" sz="1180" b="1">
                <a:solidFill>
                  <a:srgbClr val="111111"/>
                </a:solidFill>
                <a:latin typeface="Aptos"/>
              </a:rPr>
              <a:t>Destination signal</a:t>
            </a:r>
            <a:endParaRPr lang="en-US" sz="1180">
              <a:solidFill>
                <a:srgbClr val="111111"/>
              </a:solidFill>
              <a:latin typeface="Aptos"/>
            </a:endParaRPr>
          </a:p>
        </p:txBody>
      </p:sp>
      <p:sp>
        <p:nvSpPr>
          <p:cNvPr id="11" name="Shape 11"/>
          <p:cNvSpPr/>
          <p:nvPr/>
        </p:nvSpPr>
        <p:spPr>
          <a:xfrm>
            <a:off x="7232904" y="2743200"/>
            <a:ext cx="2743200" cy="2468880"/>
          </a:xfrm>
          <a:prstGeom prst="roundRect">
            <a:avLst/>
          </a:prstGeom>
          <a:solidFill>
            <a:srgbClr val="FFFFFF"/>
          </a:solidFill>
          <a:ln w="12700">
            <a:solidFill>
              <a:srgbClr val="D5C7B3"/>
            </a:solidFill>
          </a:ln>
        </p:spPr>
        <p:txBody>
          <a:bodyPr/>
          <a:lstStyle/>
          <a:p/>
        </p:txBody>
      </p:sp>
      <p:pic>
        <p:nvPicPr>
          <p:cNvPr id="12" name="Picture 12" descr="ubisoft.jpeg"/>
          <p:cNvPicPr>
            <a:picLocks noChangeAspect="1"/>
          </p:cNvPicPr>
          <p:nvPr/>
        </p:nvPicPr>
        <p:blipFill>
          <a:blip r:embed="rId4"/>
          <a:stretch>
            <a:fillRect/>
          </a:stretch>
        </p:blipFill>
        <p:spPr>
          <a:xfrm>
            <a:off x="7415783" y="2907792"/>
            <a:ext cx="2377440" cy="1600200"/>
          </a:xfrm>
          <a:prstGeom prst="roundRect">
            <a:avLst/>
          </a:prstGeom>
        </p:spPr>
      </p:pic>
      <p:sp>
        <p:nvSpPr>
          <p:cNvPr id="13" name="Text 13"/>
          <p:cNvSpPr txBox="1"/>
          <p:nvPr/>
        </p:nvSpPr>
        <p:spPr>
          <a:xfrm>
            <a:off x="7415783" y="4709160"/>
            <a:ext cx="2377440" cy="320040"/>
          </a:xfrm>
          <a:prstGeom prst="rect">
            <a:avLst/>
          </a:prstGeom>
          <a:noFill/>
          <a:ln>
            <a:noFill/>
          </a:ln>
        </p:spPr>
        <p:txBody>
          <a:bodyPr anchor="t" wrap="square"/>
          <a:lstStyle/>
          <a:p>
            <a:pPr algn="c"/>
            <a:r>
              <a:rPr lang="en-US" sz="1180" b="1">
                <a:solidFill>
                  <a:srgbClr val="111111"/>
                </a:solidFill>
                <a:latin typeface="Aptos"/>
              </a:rPr>
              <a:t>Game creation partner</a:t>
            </a:r>
            <a:endParaRPr lang="en-US" sz="1180">
              <a:solidFill>
                <a:srgbClr val="111111"/>
              </a:solidFill>
              <a:latin typeface="Apto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C94B38"/>
          </a:solidFill>
          <a:ln>
            <a:noFill/>
          </a:ln>
        </p:spPr>
        <p:txBody>
          <a:bodyPr/>
          <a:lstStyle/>
          <a:p/>
        </p:txBody>
      </p:sp>
      <p:sp>
        <p:nvSpPr>
          <p:cNvPr id="3" name="Shape 3"/>
          <p:cNvSpPr/>
          <p:nvPr/>
        </p:nvSpPr>
        <p:spPr>
          <a:xfrm>
            <a:off x="713232" y="685800"/>
            <a:ext cx="10789920" cy="5486400"/>
          </a:xfrm>
          <a:prstGeom prst="roundRect">
            <a:avLst/>
          </a:prstGeom>
          <a:solidFill>
            <a:srgbClr val="0B0D10"/>
          </a:solidFill>
          <a:ln>
            <a:noFill/>
          </a:ln>
        </p:spPr>
        <p:txBody>
          <a:bodyPr/>
          <a:lstStyle/>
          <a:p/>
        </p:txBody>
      </p:sp>
      <p:sp>
        <p:nvSpPr>
          <p:cNvPr id="4" name="Text 4"/>
          <p:cNvSpPr txBox="1"/>
          <p:nvPr/>
        </p:nvSpPr>
        <p:spPr>
          <a:xfrm>
            <a:off x="1005840" y="1005840"/>
            <a:ext cx="4937760" cy="457200"/>
          </a:xfrm>
          <a:prstGeom prst="rect">
            <a:avLst/>
          </a:prstGeom>
          <a:noFill/>
          <a:ln>
            <a:noFill/>
          </a:ln>
        </p:spPr>
        <p:txBody>
          <a:bodyPr anchor="t" wrap="square"/>
          <a:lstStyle/>
          <a:p>
            <a:pPr algn="l"/>
            <a:r>
              <a:rPr lang="en-US" sz="2500" b="1">
                <a:solidFill>
                  <a:srgbClr val="FFFFFF"/>
                </a:solidFill>
                <a:latin typeface="Georgia"/>
              </a:rPr>
              <a:t>How rollout can happen.</a:t>
            </a:r>
            <a:endParaRPr lang="en-US" sz="2500">
              <a:solidFill>
                <a:srgbClr val="FFFFFF"/>
              </a:solidFill>
              <a:latin typeface="Georgia"/>
            </a:endParaRPr>
          </a:p>
        </p:txBody>
      </p:sp>
      <p:sp>
        <p:nvSpPr>
          <p:cNvPr id="5" name="Text 5"/>
          <p:cNvSpPr txBox="1"/>
          <p:nvPr/>
        </p:nvSpPr>
        <p:spPr>
          <a:xfrm>
            <a:off x="1005840" y="1691640"/>
            <a:ext cx="4937760" cy="685800"/>
          </a:xfrm>
          <a:prstGeom prst="rect">
            <a:avLst/>
          </a:prstGeom>
          <a:noFill/>
          <a:ln>
            <a:noFill/>
          </a:ln>
        </p:spPr>
        <p:txBody>
          <a:bodyPr anchor="t" wrap="square"/>
          <a:lstStyle/>
          <a:p>
            <a:pPr algn="l"/>
            <a:r>
              <a:rPr lang="en-US" sz="1200" b="0">
                <a:solidFill>
                  <a:srgbClr val="E7D8D4"/>
                </a:solidFill>
                <a:latin typeface="Aptos"/>
              </a:rPr>
              <a:t>The model can start narrow and expand into a broader rec room operating layer.</a:t>
            </a:r>
            <a:endParaRPr lang="en-US" sz="1200">
              <a:solidFill>
                <a:srgbClr val="E7D8D4"/>
              </a:solidFill>
              <a:latin typeface="Aptos"/>
            </a:endParaRPr>
          </a:p>
        </p:txBody>
      </p:sp>
      <p:sp>
        <p:nvSpPr>
          <p:cNvPr id="6" name="Shape 6"/>
          <p:cNvSpPr/>
          <p:nvPr/>
        </p:nvSpPr>
        <p:spPr>
          <a:xfrm>
            <a:off x="1005840" y="2743200"/>
            <a:ext cx="10058400" cy="868680"/>
          </a:xfrm>
          <a:prstGeom prst="roundRect">
            <a:avLst/>
          </a:prstGeom>
          <a:solidFill>
            <a:srgbClr val="171A20"/>
          </a:solidFill>
          <a:ln w="12700">
            <a:solidFill>
              <a:srgbClr val="303745"/>
            </a:solidFill>
          </a:ln>
        </p:spPr>
        <p:txBody>
          <a:bodyPr/>
          <a:lstStyle/>
          <a:p/>
        </p:txBody>
      </p:sp>
      <p:sp>
        <p:nvSpPr>
          <p:cNvPr id="7" name="Text 7"/>
          <p:cNvSpPr txBox="1"/>
          <p:nvPr/>
        </p:nvSpPr>
        <p:spPr>
          <a:xfrm>
            <a:off x="1234440" y="2889504"/>
            <a:ext cx="1234440" cy="228600"/>
          </a:xfrm>
          <a:prstGeom prst="rect">
            <a:avLst/>
          </a:prstGeom>
          <a:noFill/>
          <a:ln>
            <a:noFill/>
          </a:ln>
        </p:spPr>
        <p:txBody>
          <a:bodyPr anchor="t" wrap="square"/>
          <a:lstStyle/>
          <a:p>
            <a:pPr algn="l"/>
            <a:r>
              <a:rPr lang="en-US" sz="1250" b="1">
                <a:solidFill>
                  <a:srgbClr val="F5C242"/>
                </a:solidFill>
                <a:latin typeface="Aptos"/>
              </a:rPr>
              <a:t>Phase 1</a:t>
            </a:r>
            <a:endParaRPr lang="en-US" sz="1250">
              <a:solidFill>
                <a:srgbClr val="F5C242"/>
              </a:solidFill>
              <a:latin typeface="Aptos"/>
            </a:endParaRPr>
          </a:p>
        </p:txBody>
      </p:sp>
      <p:sp>
        <p:nvSpPr>
          <p:cNvPr id="8" name="Text 8"/>
          <p:cNvSpPr txBox="1"/>
          <p:nvPr/>
        </p:nvSpPr>
        <p:spPr>
          <a:xfrm>
            <a:off x="2377440" y="2871216"/>
            <a:ext cx="2560320" cy="256032"/>
          </a:xfrm>
          <a:prstGeom prst="rect">
            <a:avLst/>
          </a:prstGeom>
          <a:noFill/>
          <a:ln>
            <a:noFill/>
          </a:ln>
        </p:spPr>
        <p:txBody>
          <a:bodyPr anchor="t" wrap="square"/>
          <a:lstStyle/>
          <a:p>
            <a:pPr algn="l"/>
            <a:r>
              <a:rPr lang="en-US" sz="1350" b="1">
                <a:solidFill>
                  <a:srgbClr val="FFFFFF"/>
                </a:solidFill>
                <a:latin typeface="Aptos"/>
              </a:rPr>
              <a:t>Launch the digital front door</a:t>
            </a:r>
            <a:endParaRPr lang="en-US" sz="1350">
              <a:solidFill>
                <a:srgbClr val="FFFFFF"/>
              </a:solidFill>
              <a:latin typeface="Aptos"/>
            </a:endParaRPr>
          </a:p>
        </p:txBody>
      </p:sp>
      <p:sp>
        <p:nvSpPr>
          <p:cNvPr id="9" name="Text 9"/>
          <p:cNvSpPr txBox="1"/>
          <p:nvPr/>
        </p:nvSpPr>
        <p:spPr>
          <a:xfrm>
            <a:off x="5029200" y="2871216"/>
            <a:ext cx="5303520" cy="329184"/>
          </a:xfrm>
          <a:prstGeom prst="rect">
            <a:avLst/>
          </a:prstGeom>
          <a:noFill/>
          <a:ln>
            <a:noFill/>
          </a:ln>
        </p:spPr>
        <p:txBody>
          <a:bodyPr anchor="t" wrap="square"/>
          <a:lstStyle/>
          <a:p>
            <a:pPr algn="l"/>
            <a:r>
              <a:rPr lang="en-US" sz="1040" b="0">
                <a:solidFill>
                  <a:srgbClr val="D8DEE6"/>
                </a:solidFill>
                <a:latin typeface="Aptos"/>
              </a:rPr>
              <a:t>Bookings, account creation, support, and visible venue programming.</a:t>
            </a:r>
            <a:endParaRPr lang="en-US" sz="1040">
              <a:solidFill>
                <a:srgbClr val="D8DEE6"/>
              </a:solidFill>
              <a:latin typeface="Aptos"/>
            </a:endParaRPr>
          </a:p>
        </p:txBody>
      </p:sp>
      <p:sp>
        <p:nvSpPr>
          <p:cNvPr id="10" name="Shape 10"/>
          <p:cNvSpPr/>
          <p:nvPr/>
        </p:nvSpPr>
        <p:spPr>
          <a:xfrm>
            <a:off x="1005840" y="3886200"/>
            <a:ext cx="10058400" cy="868680"/>
          </a:xfrm>
          <a:prstGeom prst="roundRect">
            <a:avLst/>
          </a:prstGeom>
          <a:solidFill>
            <a:srgbClr val="171A20"/>
          </a:solidFill>
          <a:ln w="12700">
            <a:solidFill>
              <a:srgbClr val="303745"/>
            </a:solidFill>
          </a:ln>
        </p:spPr>
        <p:txBody>
          <a:bodyPr/>
          <a:lstStyle/>
          <a:p/>
        </p:txBody>
      </p:sp>
      <p:sp>
        <p:nvSpPr>
          <p:cNvPr id="11" name="Text 11"/>
          <p:cNvSpPr txBox="1"/>
          <p:nvPr/>
        </p:nvSpPr>
        <p:spPr>
          <a:xfrm>
            <a:off x="1234440" y="4032504"/>
            <a:ext cx="1234440" cy="228600"/>
          </a:xfrm>
          <a:prstGeom prst="rect">
            <a:avLst/>
          </a:prstGeom>
          <a:noFill/>
          <a:ln>
            <a:noFill/>
          </a:ln>
        </p:spPr>
        <p:txBody>
          <a:bodyPr anchor="t" wrap="square"/>
          <a:lstStyle/>
          <a:p>
            <a:pPr algn="l"/>
            <a:r>
              <a:rPr lang="en-US" sz="1250" b="1">
                <a:solidFill>
                  <a:srgbClr val="F5C242"/>
                </a:solidFill>
                <a:latin typeface="Aptos"/>
              </a:rPr>
              <a:t>Phase 2</a:t>
            </a:r>
            <a:endParaRPr lang="en-US" sz="1250">
              <a:solidFill>
                <a:srgbClr val="F5C242"/>
              </a:solidFill>
              <a:latin typeface="Aptos"/>
            </a:endParaRPr>
          </a:p>
        </p:txBody>
      </p:sp>
      <p:sp>
        <p:nvSpPr>
          <p:cNvPr id="12" name="Text 12"/>
          <p:cNvSpPr txBox="1"/>
          <p:nvPr/>
        </p:nvSpPr>
        <p:spPr>
          <a:xfrm>
            <a:off x="2377440" y="4014215"/>
            <a:ext cx="2560320" cy="256032"/>
          </a:xfrm>
          <a:prstGeom prst="rect">
            <a:avLst/>
          </a:prstGeom>
          <a:noFill/>
          <a:ln>
            <a:noFill/>
          </a:ln>
        </p:spPr>
        <p:txBody>
          <a:bodyPr anchor="t" wrap="square"/>
          <a:lstStyle/>
          <a:p>
            <a:pPr algn="l"/>
            <a:r>
              <a:rPr lang="en-US" sz="1350" b="1">
                <a:solidFill>
                  <a:srgbClr val="FFFFFF"/>
                </a:solidFill>
                <a:latin typeface="Aptos"/>
              </a:rPr>
              <a:t>Add online game loops</a:t>
            </a:r>
            <a:endParaRPr lang="en-US" sz="1350">
              <a:solidFill>
                <a:srgbClr val="FFFFFF"/>
              </a:solidFill>
              <a:latin typeface="Aptos"/>
            </a:endParaRPr>
          </a:p>
        </p:txBody>
      </p:sp>
      <p:sp>
        <p:nvSpPr>
          <p:cNvPr id="13" name="Text 13"/>
          <p:cNvSpPr txBox="1"/>
          <p:nvPr/>
        </p:nvSpPr>
        <p:spPr>
          <a:xfrm>
            <a:off x="5029200" y="4014215"/>
            <a:ext cx="5303520" cy="329184"/>
          </a:xfrm>
          <a:prstGeom prst="rect">
            <a:avLst/>
          </a:prstGeom>
          <a:noFill/>
          <a:ln>
            <a:noFill/>
          </a:ln>
        </p:spPr>
        <p:txBody>
          <a:bodyPr anchor="t" wrap="square"/>
          <a:lstStyle/>
          <a:p>
            <a:pPr algn="l"/>
            <a:r>
              <a:rPr lang="en-US" sz="1040" b="0">
                <a:solidFill>
                  <a:srgbClr val="D8DEE6"/>
                </a:solidFill>
                <a:latin typeface="Aptos"/>
              </a:rPr>
              <a:t>Play Game flows, recurring titles, tournaments, and community identity.</a:t>
            </a:r>
            <a:endParaRPr lang="en-US" sz="1040">
              <a:solidFill>
                <a:srgbClr val="D8DEE6"/>
              </a:solidFill>
              <a:latin typeface="Aptos"/>
            </a:endParaRPr>
          </a:p>
        </p:txBody>
      </p:sp>
      <p:sp>
        <p:nvSpPr>
          <p:cNvPr id="14" name="Shape 14"/>
          <p:cNvSpPr/>
          <p:nvPr/>
        </p:nvSpPr>
        <p:spPr>
          <a:xfrm>
            <a:off x="1005840" y="5029200"/>
            <a:ext cx="10058400" cy="868680"/>
          </a:xfrm>
          <a:prstGeom prst="roundRect">
            <a:avLst/>
          </a:prstGeom>
          <a:solidFill>
            <a:srgbClr val="171A20"/>
          </a:solidFill>
          <a:ln w="12700">
            <a:solidFill>
              <a:srgbClr val="303745"/>
            </a:solidFill>
          </a:ln>
        </p:spPr>
        <p:txBody>
          <a:bodyPr/>
          <a:lstStyle/>
          <a:p/>
        </p:txBody>
      </p:sp>
      <p:sp>
        <p:nvSpPr>
          <p:cNvPr id="15" name="Text 15"/>
          <p:cNvSpPr txBox="1"/>
          <p:nvPr/>
        </p:nvSpPr>
        <p:spPr>
          <a:xfrm>
            <a:off x="1234440" y="5175504"/>
            <a:ext cx="1234440" cy="228600"/>
          </a:xfrm>
          <a:prstGeom prst="rect">
            <a:avLst/>
          </a:prstGeom>
          <a:noFill/>
          <a:ln>
            <a:noFill/>
          </a:ln>
        </p:spPr>
        <p:txBody>
          <a:bodyPr anchor="t" wrap="square"/>
          <a:lstStyle/>
          <a:p>
            <a:pPr algn="l"/>
            <a:r>
              <a:rPr lang="en-US" sz="1250" b="1">
                <a:solidFill>
                  <a:srgbClr val="F5C242"/>
                </a:solidFill>
                <a:latin typeface="Aptos"/>
              </a:rPr>
              <a:t>Phase 3</a:t>
            </a:r>
            <a:endParaRPr lang="en-US" sz="1250">
              <a:solidFill>
                <a:srgbClr val="F5C242"/>
              </a:solidFill>
              <a:latin typeface="Aptos"/>
            </a:endParaRPr>
          </a:p>
        </p:txBody>
      </p:sp>
      <p:sp>
        <p:nvSpPr>
          <p:cNvPr id="16" name="Text 16"/>
          <p:cNvSpPr txBox="1"/>
          <p:nvPr/>
        </p:nvSpPr>
        <p:spPr>
          <a:xfrm>
            <a:off x="2377440" y="5157216"/>
            <a:ext cx="2560320" cy="256032"/>
          </a:xfrm>
          <a:prstGeom prst="rect">
            <a:avLst/>
          </a:prstGeom>
          <a:noFill/>
          <a:ln>
            <a:noFill/>
          </a:ln>
        </p:spPr>
        <p:txBody>
          <a:bodyPr anchor="t" wrap="square"/>
          <a:lstStyle/>
          <a:p>
            <a:pPr algn="l"/>
            <a:r>
              <a:rPr lang="en-US" sz="1350" b="1">
                <a:solidFill>
                  <a:srgbClr val="FFFFFF"/>
                </a:solidFill>
                <a:latin typeface="Aptos"/>
              </a:rPr>
              <a:t>Expand into deeper infrastructure</a:t>
            </a:r>
            <a:endParaRPr lang="en-US" sz="1350">
              <a:solidFill>
                <a:srgbClr val="FFFFFF"/>
              </a:solidFill>
              <a:latin typeface="Aptos"/>
            </a:endParaRPr>
          </a:p>
        </p:txBody>
      </p:sp>
      <p:sp>
        <p:nvSpPr>
          <p:cNvPr id="17" name="Text 17"/>
          <p:cNvSpPr txBox="1"/>
          <p:nvPr/>
        </p:nvSpPr>
        <p:spPr>
          <a:xfrm>
            <a:off x="5029200" y="5157216"/>
            <a:ext cx="5303520" cy="329184"/>
          </a:xfrm>
          <a:prstGeom prst="rect">
            <a:avLst/>
          </a:prstGeom>
          <a:noFill/>
          <a:ln>
            <a:noFill/>
          </a:ln>
        </p:spPr>
        <p:txBody>
          <a:bodyPr anchor="t" wrap="square"/>
          <a:lstStyle/>
          <a:p>
            <a:pPr algn="l"/>
            <a:r>
              <a:rPr lang="en-US" sz="1040" b="0">
                <a:solidFill>
                  <a:srgbClr val="D8DEE6"/>
                </a:solidFill>
                <a:latin typeface="Aptos"/>
              </a:rPr>
              <a:t>Membership, leagues, creator releases, and immersive programming.</a:t>
            </a:r>
            <a:endParaRPr lang="en-US" sz="1040">
              <a:solidFill>
                <a:srgbClr val="D8DEE6"/>
              </a:solidFill>
              <a:latin typeface="Apto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p:nvPr/>
        </p:nvSpPr>
        <p:spPr>
          <a:xfrm>
            <a:off x="0" y="0"/>
            <a:ext cx="12191695" cy="6858000"/>
          </a:xfrm>
          <a:prstGeom prst="rect">
            <a:avLst/>
          </a:prstGeom>
          <a:solidFill>
            <a:srgbClr val="F6F0E5"/>
          </a:solidFill>
          <a:ln>
            <a:noFill/>
          </a:ln>
        </p:spPr>
        <p:txBody>
          <a:bodyPr/>
          <a:lstStyle/>
          <a:p/>
        </p:txBody>
      </p:sp>
      <p:sp>
        <p:nvSpPr>
          <p:cNvPr id="3" name="Shape 3"/>
          <p:cNvSpPr/>
          <p:nvPr/>
        </p:nvSpPr>
        <p:spPr>
          <a:xfrm>
            <a:off x="777240" y="777240"/>
            <a:ext cx="5120640" cy="5303520"/>
          </a:xfrm>
          <a:prstGeom prst="roundRect">
            <a:avLst/>
          </a:prstGeom>
          <a:solidFill>
            <a:srgbClr val="0B0D10"/>
          </a:solidFill>
          <a:ln>
            <a:noFill/>
          </a:ln>
        </p:spPr>
        <p:txBody>
          <a:bodyPr/>
          <a:lstStyle/>
          <a:p/>
        </p:txBody>
      </p:sp>
      <p:sp>
        <p:nvSpPr>
          <p:cNvPr id="4" name="Shape 4"/>
          <p:cNvSpPr/>
          <p:nvPr/>
        </p:nvSpPr>
        <p:spPr>
          <a:xfrm>
            <a:off x="6126480" y="777240"/>
            <a:ext cx="5303520" cy="5303520"/>
          </a:xfrm>
          <a:prstGeom prst="roundRect">
            <a:avLst/>
          </a:prstGeom>
          <a:solidFill>
            <a:srgbClr val="FFFFFF"/>
          </a:solidFill>
          <a:ln w="12700">
            <a:solidFill>
              <a:srgbClr val="D6CAB4"/>
            </a:solidFill>
          </a:ln>
        </p:spPr>
        <p:txBody>
          <a:bodyPr/>
          <a:lstStyle/>
          <a:p/>
        </p:txBody>
      </p:sp>
      <p:sp>
        <p:nvSpPr>
          <p:cNvPr id="5" name="Text 5"/>
          <p:cNvSpPr txBox="1"/>
          <p:nvPr/>
        </p:nvSpPr>
        <p:spPr>
          <a:xfrm>
            <a:off x="1097280" y="1143000"/>
            <a:ext cx="4023360" cy="1005840"/>
          </a:xfrm>
          <a:prstGeom prst="rect">
            <a:avLst/>
          </a:prstGeom>
          <a:noFill/>
          <a:ln>
            <a:noFill/>
          </a:ln>
        </p:spPr>
        <p:txBody>
          <a:bodyPr anchor="t" wrap="square"/>
          <a:lstStyle/>
          <a:p>
            <a:pPr algn="l"/>
            <a:r>
              <a:rPr lang="en-US" sz="2900" b="1">
                <a:solidFill>
                  <a:srgbClr val="FFFFFF"/>
                </a:solidFill>
                <a:latin typeface="Georgia"/>
              </a:rPr>
              <a:t>Recroom</a:t>
            </a:r>
            <a:endParaRPr lang="en-US" sz="2900">
              <a:solidFill>
                <a:srgbClr val="FFFFFF"/>
              </a:solidFill>
              <a:latin typeface="Georgia"/>
            </a:endParaRPr>
          </a:p>
          <a:p>
            <a:pPr algn="l"/>
            <a:r>
              <a:rPr lang="en-US" sz="2900" b="1">
                <a:solidFill>
                  <a:srgbClr val="FFFFFF"/>
                </a:solidFill>
                <a:latin typeface="Georgia"/>
              </a:rPr>
              <a:t>Games</a:t>
            </a:r>
            <a:endParaRPr lang="en-US" sz="2900">
              <a:solidFill>
                <a:srgbClr val="FFFFFF"/>
              </a:solidFill>
              <a:latin typeface="Georgia"/>
            </a:endParaRPr>
          </a:p>
        </p:txBody>
      </p:sp>
      <p:sp>
        <p:nvSpPr>
          <p:cNvPr id="6" name="Text 6"/>
          <p:cNvSpPr txBox="1"/>
          <p:nvPr/>
        </p:nvSpPr>
        <p:spPr>
          <a:xfrm>
            <a:off x="1097280" y="2697480"/>
            <a:ext cx="3931920" cy="914400"/>
          </a:xfrm>
          <a:prstGeom prst="rect">
            <a:avLst/>
          </a:prstGeom>
          <a:noFill/>
          <a:ln>
            <a:noFill/>
          </a:ln>
        </p:spPr>
        <p:txBody>
          <a:bodyPr anchor="t" wrap="square"/>
          <a:lstStyle/>
          <a:p>
            <a:pPr algn="l"/>
            <a:r>
              <a:rPr lang="en-US" sz="1250" b="0">
                <a:solidFill>
                  <a:srgbClr val="E6EAF0"/>
                </a:solidFill>
                <a:latin typeface="Aptos"/>
              </a:rPr>
              <a:t>A digital entertainment platform for online games, venue operations, sports programming, creator launches, and immersive play.</a:t>
            </a:r>
            <a:endParaRPr lang="en-US" sz="1250">
              <a:solidFill>
                <a:srgbClr val="E6EAF0"/>
              </a:solidFill>
              <a:latin typeface="Aptos"/>
            </a:endParaRPr>
          </a:p>
        </p:txBody>
      </p:sp>
      <p:sp>
        <p:nvSpPr>
          <p:cNvPr id="7" name="Text 7"/>
          <p:cNvSpPr txBox="1"/>
          <p:nvPr/>
        </p:nvSpPr>
        <p:spPr>
          <a:xfrm>
            <a:off x="6446520" y="1188720"/>
            <a:ext cx="3200400" cy="365760"/>
          </a:xfrm>
          <a:prstGeom prst="rect">
            <a:avLst/>
          </a:prstGeom>
          <a:noFill/>
          <a:ln>
            <a:noFill/>
          </a:ln>
        </p:spPr>
        <p:txBody>
          <a:bodyPr anchor="t" wrap="square"/>
          <a:lstStyle/>
          <a:p>
            <a:pPr algn="l"/>
            <a:r>
              <a:rPr lang="en-US" sz="1800" b="1">
                <a:solidFill>
                  <a:srgbClr val="111111"/>
                </a:solidFill>
                <a:latin typeface="Aptos"/>
              </a:rPr>
              <a:t>Contact</a:t>
            </a:r>
            <a:endParaRPr lang="en-US" sz="1800">
              <a:solidFill>
                <a:srgbClr val="111111"/>
              </a:solidFill>
              <a:latin typeface="Aptos"/>
            </a:endParaRPr>
          </a:p>
        </p:txBody>
      </p:sp>
      <p:sp>
        <p:nvSpPr>
          <p:cNvPr id="8" name="Text 8"/>
          <p:cNvSpPr txBox="1"/>
          <p:nvPr/>
        </p:nvSpPr>
        <p:spPr>
          <a:xfrm>
            <a:off x="6446520" y="1828800"/>
            <a:ext cx="4023360" cy="411480"/>
          </a:xfrm>
          <a:prstGeom prst="rect">
            <a:avLst/>
          </a:prstGeom>
          <a:noFill/>
          <a:ln>
            <a:noFill/>
          </a:ln>
        </p:spPr>
        <p:txBody>
          <a:bodyPr anchor="t" wrap="square"/>
          <a:lstStyle/>
          <a:p>
            <a:pPr algn="l"/>
            <a:r>
              <a:rPr lang="en-US" sz="1500" b="1">
                <a:solidFill>
                  <a:srgbClr val="C94B38"/>
                </a:solidFill>
                <a:latin typeface="Aptos"/>
              </a:rPr>
              <a:t>support@recroomgames.org</a:t>
            </a:r>
            <a:endParaRPr lang="en-US" sz="1500">
              <a:solidFill>
                <a:srgbClr val="C94B38"/>
              </a:solidFill>
              <a:latin typeface="Aptos"/>
            </a:endParaRPr>
          </a:p>
        </p:txBody>
      </p:sp>
      <p:sp>
        <p:nvSpPr>
          <p:cNvPr id="9" name="Text 9"/>
          <p:cNvSpPr txBox="1"/>
          <p:nvPr/>
        </p:nvSpPr>
        <p:spPr>
          <a:xfrm>
            <a:off x="6446520" y="2514600"/>
            <a:ext cx="4297680" cy="731520"/>
          </a:xfrm>
          <a:prstGeom prst="rect">
            <a:avLst/>
          </a:prstGeom>
          <a:noFill/>
          <a:ln>
            <a:noFill/>
          </a:ln>
        </p:spPr>
        <p:txBody>
          <a:bodyPr anchor="t" wrap="square"/>
          <a:lstStyle/>
          <a:p>
            <a:pPr algn="l"/>
            <a:r>
              <a:rPr lang="en-US" sz="1250" b="0">
                <a:solidFill>
                  <a:srgbClr val="5A616C"/>
                </a:solidFill>
                <a:latin typeface="Aptos"/>
              </a:rPr>
              <a:t>255 Bremner Blvd</a:t>
            </a:r>
            <a:endParaRPr lang="en-US" sz="1250">
              <a:solidFill>
                <a:srgbClr val="5A616C"/>
              </a:solidFill>
              <a:latin typeface="Aptos"/>
            </a:endParaRPr>
          </a:p>
          <a:p>
            <a:pPr algn="l"/>
            <a:r>
              <a:rPr lang="en-US" sz="1250" b="0">
                <a:solidFill>
                  <a:srgbClr val="5A616C"/>
                </a:solidFill>
                <a:latin typeface="Aptos"/>
              </a:rPr>
              <a:t>Toronto, ON M5V 3L9, Canada</a:t>
            </a:r>
            <a:endParaRPr lang="en-US" sz="1250">
              <a:solidFill>
                <a:srgbClr val="5A616C"/>
              </a:solidFill>
              <a:latin typeface="Aptos"/>
            </a:endParaRPr>
          </a:p>
        </p:txBody>
      </p:sp>
      <p:sp>
        <p:nvSpPr>
          <p:cNvPr id="10" name="Text 10"/>
          <p:cNvSpPr txBox="1"/>
          <p:nvPr/>
        </p:nvSpPr>
        <p:spPr>
          <a:xfrm>
            <a:off x="6446520" y="4160520"/>
            <a:ext cx="4297680" cy="640080"/>
          </a:xfrm>
          <a:prstGeom prst="rect">
            <a:avLst/>
          </a:prstGeom>
          <a:noFill/>
          <a:ln>
            <a:noFill/>
          </a:ln>
        </p:spPr>
        <p:txBody>
          <a:bodyPr anchor="t" wrap="square"/>
          <a:lstStyle/>
          <a:p>
            <a:pPr algn="l"/>
            <a:r>
              <a:rPr lang="en-US" sz="1700" b="1">
                <a:solidFill>
                  <a:srgbClr val="111111"/>
                </a:solidFill>
                <a:latin typeface="Aptos"/>
              </a:rPr>
              <a:t>Build the online layer that makes the venue feel active before people arrive.</a:t>
            </a:r>
            <a:endParaRPr lang="en-US" sz="1700">
              <a:solidFill>
                <a:srgbClr val="111111"/>
              </a:solidFill>
              <a:latin typeface="Aptos"/>
            </a:endParaRPr>
          </a:p>
        </p:txBody>
      </p:sp>
      <p:sp>
        <p:nvSpPr>
          <p:cNvPr id="11" name="Text 11"/>
          <p:cNvSpPr txBox="1"/>
          <p:nvPr/>
        </p:nvSpPr>
        <p:spPr>
          <a:xfrm>
            <a:off x="6446520" y="4983480"/>
            <a:ext cx="4023360" cy="320040"/>
          </a:xfrm>
          <a:prstGeom prst="rect">
            <a:avLst/>
          </a:prstGeom>
          <a:noFill/>
          <a:ln>
            <a:noFill/>
          </a:ln>
        </p:spPr>
        <p:txBody>
          <a:bodyPr anchor="t" wrap="square"/>
          <a:lstStyle/>
          <a:p>
            <a:pPr algn="l"/>
            <a:r>
              <a:rPr lang="en-US" sz="1080" b="0">
                <a:solidFill>
                  <a:srgbClr val="7B705F"/>
                </a:solidFill>
                <a:latin typeface="Aptos"/>
              </a:rPr>
              <a:t>13-slide deck generated for Recroom Games</a:t>
            </a:r>
            <a:endParaRPr lang="en-US" sz="1080">
              <a:solidFill>
                <a:srgbClr val="7B705F"/>
              </a:solidFill>
              <a:latin typeface="Apto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Recroom Games Pitch Deck</dc:title>
  <dc:creator>OpenAI Codex</dc:creator>
  <cp:lastModifiedBy>OpenAI Codex</cp:lastModifiedBy>
  <dcterms:created xsi:type="dcterms:W3CDTF">2026-05-26T21:52:51Z</dcterms:created>
  <dcterms:modified xsi:type="dcterms:W3CDTF">2026-05-26T21:52:51Z</dcterms:modified>
</cp:coreProperties>
</file>